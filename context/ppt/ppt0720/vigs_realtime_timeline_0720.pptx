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31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Noto Sans CJK KR"/>
              </a:rPr>
              <a:t>EXP52 / EXP53 · GS_FLOATERLAB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697480"/>
            <a:ext cx="103327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>
                <a:solidFill>
                  <a:srgbClr val="E8ECF4"/>
                </a:solidFill>
                <a:latin typeface="Noto Sans CJK KR"/>
              </a:rPr>
              <a:t>VIGS-SLAM 실시간성 타임라인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2044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B95AB"/>
                </a:solidFill>
                <a:latin typeface="Noto Sans CJK KR"/>
              </a:rPr>
              <a:t>직렬 체인과 GS Mapping, 얼마나 겹치고 어디가 남는가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8B95AB"/>
                </a:solidFill>
                <a:latin typeface="Noto Sans CJK KR"/>
              </a:rPr>
              <a:t>1253 시퀀스 · 65.1초 실녹화 · imu_cpp+TensorRT 가속 적용 · 2026-07-20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세 가지 질문에 대한 답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371600"/>
            <a:ext cx="11094415" cy="150876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RTX 5090이면 실시간이 될까?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부분적으로만. VIGS 저자 공식 벤치마크(RTX 5090)에서도 tracking만은 39.83fps(여유)지만 tracking+mapping은 12.02fps로 여전히 목표(30fps) 미달. 27.0초 오버헤드 중 21.1초(순수 Python 루프·IPC)는 GPU 세대와 거의 무관하게 남을 가능성이 큼 — GPU 업그레이드는 필요조건이지 충분조건이 아니다.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044952"/>
            <a:ext cx="11094415" cy="150876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직렬 체인이 gs_mapping보다 작은가?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거의 같다 — 89.6초 vs 90.5초. 어느 한쪽만 0으로 줄여도 나머지 하나가 이미 예산(65.1초)을 넘는다. 두 축을 동시에 줄여야만 실시간에 도달한다.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718304"/>
            <a:ext cx="11094415" cy="1508760"/>
          </a:xfrm>
          <a:prstGeom prst="roundRect">
            <a:avLst>
              <a:gd name="adj" fmla="val 4000"/>
            </a:avLst>
          </a:prstGeom>
          <a:solidFill>
            <a:srgbClr val="1A1F2B"/>
          </a:solidFill>
          <a:ln w="9525">
            <a:solidFill>
              <a:srgbClr val="2A3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 tIns="146304" bIns="146304"/>
          <a:lstStyle/>
          <a:p>
            <a:pPr algn="ctr"/>
            <a:r>
              <a:rPr sz="1350" b="1">
                <a:solidFill>
                  <a:srgbClr val="E8ECF4"/>
                </a:solidFill>
                <a:latin typeface="Noto Sans CJK KR"/>
              </a:rPr>
              <a:t>27.0초 오버헤드의 정체는?</a:t>
            </a:r>
          </a:p>
          <a:p>
            <a:pPr>
              <a:lnSpc>
                <a:spcPct val="118000"/>
              </a:lnSpc>
              <a:spcBef>
                <a:spcPts val="600"/>
              </a:spcBef>
            </a:pPr>
            <a:r>
              <a:rPr sz="1150">
                <a:solidFill>
                  <a:srgbClr val="8B95AB"/>
                </a:solidFill>
                <a:latin typeface="Noto Sans CJK KR"/>
              </a:rPr>
              <a:t>model_loading 1.5초(1회성) + queue_get_wait 4.4초(리더 프로세스 IPC 대기) + 미계측 잔여 21.1초(pbar 문자열 포맷·이미지 텐서 복사·save_trajectory의 GPU→CPU 전송+파일 I/O로 추정 — 아직 세분 계측 안 함, exp53 신규 축 후보).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TIMELINE · SCENARIO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순차 실행 — gs_parallel 없이 돌리면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imeline_s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229" y="1371600"/>
            <a:ext cx="8469235" cy="27432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34340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8ECF4"/>
                </a:solidFill>
                <a:latin typeface="Noto Sans CJK KR"/>
              </a:rPr>
              <a:t>180.10s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총합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434340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2.77×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실시간 배수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4343400"/>
            <a:ext cx="365760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F6A5C"/>
                </a:solidFill>
                <a:latin typeface="Noto Sans CJK KR"/>
              </a:rPr>
              <a:t>50.2%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gs_mapping 비중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62356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5AB"/>
                </a:solidFill>
                <a:latin typeface="Noto Sans CJK KR"/>
              </a:rPr>
              <a:t>한 프레임당 motion_filter→frontend→PGBA→gs_mapping이 전부 같은 스레드에서 순서대로 실행된다고 가정했을 때, 전체 시퀀스에 걸쳐 각 단계가 누적한 시간의 구성.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TIMELINE · SCENARIO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gs_parallel — 두 스레드가 GPU를 나눠 쓰면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imeline_parall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7462" y="1371600"/>
            <a:ext cx="7776770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46177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8ECF4"/>
                </a:solidFill>
                <a:latin typeface="Noto Sans CJK KR"/>
              </a:rPr>
              <a:t>133.04s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총합(실측)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4617720"/>
            <a:ext cx="356616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FFB454"/>
                </a:solidFill>
                <a:latin typeface="Noto Sans CJK KR"/>
              </a:rPr>
              <a:t>2.04×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실시간 배수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4617720"/>
            <a:ext cx="3657600" cy="105156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4C86EA"/>
                </a:solidFill>
                <a:latin typeface="Noto Sans CJK KR"/>
              </a:rPr>
              <a:t>−26.1%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순차 대비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109441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5AB"/>
                </a:solidFill>
                <a:latin typeface="Noto Sans CJK KR"/>
              </a:rPr>
              <a:t>두 스레드 다 133.04초에 함께 끝난다 — 한쪽이 먼저 끝나고 기다리는 구조가 아니라, 서로가 서로를 GPU 경합으로 늦추며 같은 시점에 수렴한다.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CONTENTION IS BIDIRECTIONAL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왜 frontend가 병렬일 때 오히려 느려지나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frontend_conten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342" y="1371600"/>
            <a:ext cx="7847009" cy="3063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617720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GPU 경합은 매핑 쪽에만 일어나는 게 아니라 양방향이다 — bundle_adjust(BA solve)와 update_op_forward(GRU)는 frontend에서 가장 무거운 GPU 커널인데, rasterize/backward처럼 gs_mapping이 던지는 무거운 커널과 같은 SM·메모리 대역폭을 놓고 경쟁한다.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49240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8B95AB"/>
                </a:solidFill>
                <a:latin typeface="Noto Sans CJK KR"/>
              </a:rPr>
              <a:t>반면 PGBA(pgba_run)는 sparse pose graph 최적화라 상대적으로 가벼워 거의 안 느려짐(+12%) — mapping 자체도 거의 그대로(90.5→86.24s). 가설(미검증, nsys 트레이스 필요): mapping이 던지는 크고 지속시간 긴 커널 뒤에서 frontend의 작고 빈번한 커널들이 줄서서 기다린다.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HOW PARALLEL, EXACTLY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오버랩 효율 — 실제로 얼마나 겹치는가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overlap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4001" y="1280160"/>
            <a:ext cx="8083692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21208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4C86EA"/>
                </a:solidFill>
                <a:latin typeface="Noto Sans CJK KR"/>
              </a:rPr>
              <a:t>66.0%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오버랩 효율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5212080"/>
            <a:ext cx="3566160" cy="96012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EF6A5C"/>
                </a:solidFill>
                <a:latin typeface="Noto Sans CJK KR"/>
              </a:rPr>
              <a:t>34.0%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GPU 경합으로 손실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5212080"/>
            <a:ext cx="3657600" cy="960120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 w="15875">
            <a:solidFill>
              <a:srgbClr val="8B95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2200" b="1">
                <a:solidFill>
                  <a:srgbClr val="8B95AB"/>
                </a:solidFill>
                <a:latin typeface="Noto Sans CJK KR"/>
              </a:rPr>
              <a:t>103.72s</a:t>
            </a:r>
          </a:p>
          <a:p>
            <a:pPr algn="ctr"/>
            <a:r>
              <a:rPr sz="1050">
                <a:solidFill>
                  <a:srgbClr val="8B95AB"/>
                </a:solidFill>
                <a:latin typeface="Noto Sans CJK KR"/>
              </a:rPr>
              <a:t>Tracking 실측(같은 런)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5AB"/>
                </a:solidFill>
                <a:latin typeface="Noto Sans CJK KR"/>
              </a:rPr>
              <a:t>※ 103.72s는 "경합이 없었을 때의 tracking 비용"이 아니라 이 gs_parallel 런에서 실측된 값 — 그 자체로 이미 위 슬라이드의 경합을 포함하고 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THE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완벽한 병렬화를 가정해도 안 되는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theoretical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5747" y="1325880"/>
            <a:ext cx="6680200" cy="1965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429000"/>
            <a:ext cx="11094415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E8ECF4"/>
                </a:solidFill>
                <a:latin typeface="Noto Sans CJK KR"/>
              </a:rPr>
              <a:t>병렬화(exp52)만으로는 구조적으로 도달 불가 — 직렬 체인과 gs_mapping을 각각 65.1초 아래로 줄여야 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94760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FFB4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FFB454"/>
                </a:solidFill>
                <a:latin typeface="Noto Sans CJK KR"/>
              </a:rPr>
              <a:t>EXP53 · 최우선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767328"/>
            <a:ext cx="94942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Frontend 반복 축소(iters1/iters2) — bundle_adjust+update_op_forward가 frontend 43.2s의 80%. 직렬 체인을 줄이는 가장 직접적인 레버.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25112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4C86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4C86EA"/>
                </a:solidFill>
                <a:latin typeface="Noto Sans CJK KR"/>
              </a:rPr>
              <a:t>EXP53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4297680"/>
            <a:ext cx="94942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keyframe 밀도 억제(motion_filter.thresh) — keyframe 발생이 fps와 무관하다는 게 확인됐으니, 밀도 자체를 낮추는 게 fps를 낮추는 것보다 유효.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55464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F6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EF6A5C"/>
                </a:solidFill>
                <a:latin typeface="Noto Sans CJK KR"/>
              </a:rPr>
              <a:t>EXP53 · 신규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4828032"/>
            <a:ext cx="94942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27.0초 오버헤드 세분 계측 — 21.1초 미계측 잔여의 정체 파악. GPU와 무관하게 남을 항목이라 별도 대응 필요.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5385816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E8EC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E8ECF4"/>
                </a:solidFill>
                <a:latin typeface="Noto Sans CJK KR"/>
              </a:rPr>
              <a:t>EXP53 · 신규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5358384"/>
            <a:ext cx="94942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축A~D를 gs_parallel 켠 상태/끈 상태 둘 다에서 측정 — frontend가 경합 시 +72% 느려짐이 확인됐으니, 순차 측정만으론 병렬 실전 효과를 과대추정할 수 있음.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916168"/>
            <a:ext cx="1417320" cy="292608"/>
          </a:xfrm>
          <a:prstGeom prst="roundRect">
            <a:avLst>
              <a:gd name="adj" fmla="val 50000"/>
            </a:avLst>
          </a:prstGeom>
          <a:solidFill>
            <a:srgbClr val="1A1F2B"/>
          </a:solidFill>
          <a:ln w="12700">
            <a:solidFill>
              <a:srgbClr val="8B95A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/>
          <a:lstStyle/>
          <a:p>
            <a:pPr algn="ctr"/>
            <a:r>
              <a:rPr sz="950" b="1">
                <a:solidFill>
                  <a:srgbClr val="8B95AB"/>
                </a:solidFill>
                <a:latin typeface="Noto Sans CJK KR"/>
              </a:rPr>
              <a:t>EXP52 · 계속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5888736"/>
            <a:ext cx="9494215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E8ECF4"/>
                </a:solidFill>
                <a:latin typeface="Noto Sans CJK KR"/>
              </a:rPr>
              <a:t>gs_mapping 자체 연산량 감소 — iteration 수·해상도·densify 빈도. RTX 5090에서도 저자 자신이 12.02fps(미달)였던 부분이라 GPU 업그레이드만으론 부족.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5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B454"/>
                </a:solidFill>
                <a:latin typeface="Noto Sans CJK KR"/>
              </a:rPr>
              <a:t>COMPONENT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8ECF4"/>
                </a:solidFill>
                <a:latin typeface="Noto Sans CJK KR"/>
              </a:rPr>
              <a:t>구성요소별 세부 분해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11094415" cy="25400"/>
          </a:xfrm>
          <a:prstGeom prst="rect">
            <a:avLst/>
          </a:prstGeom>
          <a:solidFill>
            <a:srgbClr val="2A3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ig_compon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9152" y="1325880"/>
            <a:ext cx="8313389" cy="51206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