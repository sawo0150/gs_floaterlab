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00:00–00:10 | Presenter: Sangwon Park. Names: Sangwon Park, Dong Hwi Kim, Chaehyeon Song. Equal emphasis, as in the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00:10–00:40 | Representation → photorealism → fast rendering. Reference images are illustrative, not our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00:40–01:05 | Aria is the sensing platform; do not imply on-device computation. Map image slot is a real project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01:05–01:35 | Single shared compute resource; sequential input; no future views. Timing drawing is schematic.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01:35–02:00 | Two distinct failure modes. Add actual crops; do not treat a conceptual image as experimental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02:00–02:35 | N(t)-N0 approximately S(t)/kappa for available candidates and work-conserving admission. Exact cap: min(M(t),N0+floor(S(t)/kappa)). N is pool size; S is completed mapping updates, not GPU utilization. No hardware-invariance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02:35–03:10 | Per-view count derivation from §3.2. Vnorm(n)=sum((n_i-mean(n))²)/(2N); Δ_i is its change after one selection. Minimize expected next-step variance change minus tau*entropy. Exact p_i=softmax(-beta*n_i), beta=1/(N*tau). N-normalization rescales temperature; it is not mean-normalization/CV². Candidate set fixed for this derivation; actual block sampling uses remaining candidates without replacement. No global equality/convergence guarantee. See MATH_NOTES.md.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03:10–03:45 | One-sided Carve intuition: suppress opacity before a depth-supported surface; leave unobserved space unconstrained. Carve/Hit choice still under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03:45–04:35 | Fill comparison and metric before presentation. No invented numbers. Report dataset, GPU, budget, held-out split, repeats, tail policy. Identify personal contribution after confirming division of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04:35–05:00 | Recap research direction, not an unverified success claim. Hold conclusion for final five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22792" y="4791456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5959"/>
                </a:solidFill>
                <a:latin typeface="Arial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11111"/>
                </a:solidFill>
                <a:latin typeface="Arial"/>
              </a:rPr>
              <a:t>Real-time GS Mapping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11111"/>
                </a:solidFill>
                <a:latin typeface="Arial"/>
              </a:rPr>
              <a:t>on Aria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38528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5959"/>
                </a:solidFill>
                <a:latin typeface="Arial"/>
              </a:rPr>
              <a:t>Building useful maps under limited compute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063240"/>
            <a:ext cx="83210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95959"/>
                </a:solidFill>
                <a:latin typeface="Arial"/>
              </a:rPr>
              <a:t>Sangwon Park, Dong Hwi Kim, Chaehyeon Song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39312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Arial"/>
              </a:rPr>
              <a:t>RPM Lab, Seoul National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9768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  <a:latin typeface="Arial"/>
              </a:rPr>
              <a:t>Internship Presentation  ·  September 18, 2026</a:t>
            </a:r>
          </a:p>
        </p:txBody>
      </p:sp>
    </p:spTree>
  </p:cSld>
  <p:clrMapOvr>
    <a:masterClrMapping/>
  </p:clrMapOvr>
  <p:transition advClick="1" advTm="10000"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71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68580"/>
            <a:ext cx="877824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Arial"/>
              </a:rPr>
              <a:t>Why Gaussian Splatting?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50392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95959"/>
                </a:solidFill>
                <a:latin typeface="Arial"/>
              </a:rPr>
              <a:t>Represent a scene with colored, semi-transparent 3D Gaussians.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4791456"/>
            <a:ext cx="8275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595959"/>
                </a:solidFill>
                <a:latin typeface="Arial"/>
              </a:rPr>
              <a:t>Image source: supplied reference deck, slide 3. Kerbl et al., 3D Gaussian Splatting, SIGGRAPH 2023.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22792" y="4791456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5959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36192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95959"/>
                </a:solidFill>
                <a:latin typeface="Arial"/>
              </a:rPr>
              <a:t>Point cloud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536192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95959"/>
                </a:solidFill>
                <a:latin typeface="Arial"/>
              </a:rPr>
              <a:t>Gaussian representation / rendering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105276"/>
            <a:ext cx="3383280" cy="1595886"/>
          </a:xfrm>
          <a:prstGeom prst="rect">
            <a:avLst/>
          </a:prstGeom>
        </p:spPr>
      </p:pic>
      <p:sp>
        <p:nvSpPr>
          <p:cNvPr id="10" name="Right Arrow 9"/>
          <p:cNvSpPr/>
          <p:nvPr/>
        </p:nvSpPr>
        <p:spPr>
          <a:xfrm>
            <a:off x="3904487" y="2779776"/>
            <a:ext cx="347472" cy="18288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5304" y="1920240"/>
            <a:ext cx="3495039" cy="1965960"/>
          </a:xfrm>
          <a:prstGeom prst="rect">
            <a:avLst/>
          </a:prstGeom>
        </p:spPr>
      </p:pic>
      <p:cxnSp>
        <p:nvCxnSpPr>
          <p:cNvPr id="12" name="Connector 11"/>
          <p:cNvCxnSpPr/>
          <p:nvPr/>
        </p:nvCxnSpPr>
        <p:spPr>
          <a:xfrm>
            <a:off x="365760" y="4251960"/>
            <a:ext cx="8412480" cy="0"/>
          </a:xfrm>
          <a:prstGeom prst="line">
            <a:avLst/>
          </a:prstGeom>
          <a:ln w="19050">
            <a:solidFill>
              <a:srgbClr val="D4D6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11480" y="4352544"/>
            <a:ext cx="8321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36B"/>
                </a:solidFill>
                <a:latin typeface="Arial"/>
              </a:rPr>
              <a:t>Photorealistic appearance + fast rendering</a:t>
            </a:r>
          </a:p>
        </p:txBody>
      </p:sp>
    </p:spTree>
  </p:cSld>
  <p:clrMapOvr>
    <a:masterClrMapping/>
  </p:clrMapOvr>
  <p:transition advClick="1" advTm="30000"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71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68580"/>
            <a:ext cx="877824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Arial"/>
              </a:rPr>
              <a:t>Why Real-time Mapping?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50392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95959"/>
                </a:solidFill>
                <a:latin typeface="Arial"/>
              </a:rPr>
              <a:t>A robot or AR user needs a useful map while moving.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4791456"/>
            <a:ext cx="8275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595959"/>
                </a:solidFill>
                <a:latin typeface="Arial"/>
              </a:rPr>
              <a:t>Image credit: Meta / Tom’s Guide (2025), as credited in the supplied reference deck.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22792" y="4791456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5959"/>
                </a:solidFill>
                <a:latin typeface="Arial"/>
              </a:rPr>
              <a:t>3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713888"/>
            <a:ext cx="3337560" cy="187574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685032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95959"/>
                </a:solidFill>
                <a:latin typeface="Arial"/>
              </a:rPr>
              <a:t>Observe the environment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977639" y="2532888"/>
            <a:ext cx="438912" cy="201168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MAGE_PLACEHOLDER_online_map"/>
          <p:cNvSpPr/>
          <p:nvPr/>
        </p:nvSpPr>
        <p:spPr>
          <a:xfrm>
            <a:off x="4617720" y="1664208"/>
            <a:ext cx="4069080" cy="1938528"/>
          </a:xfrm>
          <a:prstGeom prst="rect">
            <a:avLst/>
          </a:prstGeom>
          <a:solidFill>
            <a:srgbClr val="FCFCFE"/>
          </a:solidFill>
          <a:ln w="12700">
            <a:solidFill>
              <a:srgbClr val="D4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59" y="2496312"/>
            <a:ext cx="3886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0A2AD"/>
                </a:solidFill>
                <a:latin typeface="Arial"/>
              </a:rPr>
              <a:t>ONLINE MAP / DEMO FRAME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685032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95959"/>
                </a:solidFill>
                <a:latin typeface="Arial"/>
              </a:rPr>
              <a:t>Build and use the map now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65760" y="4251960"/>
            <a:ext cx="8412480" cy="0"/>
          </a:xfrm>
          <a:prstGeom prst="line">
            <a:avLst/>
          </a:prstGeom>
          <a:ln w="19050">
            <a:solidFill>
              <a:srgbClr val="D4D6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11480" y="4352544"/>
            <a:ext cx="8321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36B"/>
                </a:solidFill>
                <a:latin typeface="Arial"/>
              </a:rPr>
              <a:t>Fast rendering does not guarantee fast map convergence.</a:t>
            </a:r>
          </a:p>
        </p:txBody>
      </p:sp>
    </p:spTree>
  </p:cSld>
  <p:clrMapOvr>
    <a:masterClrMapping/>
  </p:clrMapOvr>
  <p:transition advClick="1" advTm="25000"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71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68580"/>
            <a:ext cx="877824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Arial"/>
              </a:rPr>
              <a:t>Mapping under Limited Compute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50392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95959"/>
                </a:solidFill>
                <a:latin typeface="Arial"/>
              </a:rPr>
              <a:t>Tracking and mapping share a finite online compute budget.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4791456"/>
            <a:ext cx="8275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595959"/>
                </a:solidFill>
                <a:latin typeface="Arial"/>
              </a:rPr>
              <a:t>Conceptual allocation only; block widths are not measured timings.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22792" y="4791456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5959"/>
                </a:solidFill>
                <a:latin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61848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95959"/>
                </a:solidFill>
                <a:latin typeface="Arial"/>
              </a:rPr>
              <a:t>Incoming frames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74519" y="1618488"/>
            <a:ext cx="594360" cy="402336"/>
          </a:xfrm>
          <a:prstGeom prst="rect">
            <a:avLst/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47672" y="1655064"/>
            <a:ext cx="44805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136B"/>
                </a:solidFill>
                <a:latin typeface="Arial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06624" y="1618488"/>
            <a:ext cx="594360" cy="402336"/>
          </a:xfrm>
          <a:prstGeom prst="rect">
            <a:avLst/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79776" y="1655064"/>
            <a:ext cx="44805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136B"/>
                </a:solidFill>
                <a:latin typeface="Arial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38728" y="1618488"/>
            <a:ext cx="594360" cy="402336"/>
          </a:xfrm>
          <a:prstGeom prst="rect">
            <a:avLst/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1655064"/>
            <a:ext cx="44805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136B"/>
                </a:solidFill>
                <a:latin typeface="Arial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70831" y="1618488"/>
            <a:ext cx="594360" cy="402336"/>
          </a:xfrm>
          <a:prstGeom prst="rect">
            <a:avLst/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43983" y="1655064"/>
            <a:ext cx="44805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136B"/>
                </a:solidFill>
                <a:latin typeface="Arial"/>
              </a:rPr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02936" y="1618488"/>
            <a:ext cx="594360" cy="402336"/>
          </a:xfrm>
          <a:prstGeom prst="rect">
            <a:avLst/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76088" y="1655064"/>
            <a:ext cx="44805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136B"/>
                </a:solidFill>
                <a:latin typeface="Arial"/>
              </a:rPr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1618488"/>
            <a:ext cx="594360" cy="402336"/>
          </a:xfrm>
          <a:prstGeom prst="rect">
            <a:avLst/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08192" y="1655064"/>
            <a:ext cx="44805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136B"/>
                </a:solidFill>
                <a:latin typeface="Arial"/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67144" y="1618488"/>
            <a:ext cx="594360" cy="402336"/>
          </a:xfrm>
          <a:prstGeom prst="rect">
            <a:avLst/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0296" y="1655064"/>
            <a:ext cx="44805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136B"/>
                </a:solidFill>
                <a:latin typeface="Arial"/>
              </a:rPr>
              <a:t>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99248" y="1618488"/>
            <a:ext cx="594360" cy="402336"/>
          </a:xfrm>
          <a:prstGeom prst="rect">
            <a:avLst/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1655064"/>
            <a:ext cx="44805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136B"/>
                </a:solidFill>
                <a:latin typeface="Arial"/>
              </a:rPr>
              <a:t>8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865376" y="2148840"/>
            <a:ext cx="6775704" cy="0"/>
          </a:xfrm>
          <a:prstGeom prst="line">
            <a:avLst/>
          </a:prstGeom>
          <a:ln w="19050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766560" y="22128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  <a:latin typeface="Arial"/>
              </a:rPr>
              <a:t>time 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2679192"/>
            <a:ext cx="13258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95959"/>
                </a:solidFill>
                <a:latin typeface="Arial"/>
              </a:rPr>
              <a:t>Shared GPU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95959"/>
                </a:solidFill>
                <a:latin typeface="Arial"/>
              </a:rPr>
              <a:t>(schematic)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74519" y="2679192"/>
            <a:ext cx="914400" cy="594360"/>
          </a:xfrm>
          <a:prstGeom prst="rect">
            <a:avLst/>
          </a:prstGeom>
          <a:solidFill>
            <a:srgbClr val="171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47672" y="2715768"/>
            <a:ext cx="768096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Track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88920" y="2679192"/>
            <a:ext cx="1078992" cy="594360"/>
          </a:xfrm>
          <a:prstGeom prst="rect">
            <a:avLst/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62072" y="2715768"/>
            <a:ext cx="932688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136B"/>
                </a:solidFill>
                <a:latin typeface="Arial"/>
              </a:rPr>
              <a:t>Map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69080" y="2679192"/>
            <a:ext cx="1243584" cy="594360"/>
          </a:xfrm>
          <a:prstGeom prst="rect">
            <a:avLst/>
          </a:prstGeom>
          <a:solidFill>
            <a:srgbClr val="171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42232" y="2715768"/>
            <a:ext cx="109728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Track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12664" y="2679192"/>
            <a:ext cx="749808" cy="594360"/>
          </a:xfrm>
          <a:prstGeom prst="rect">
            <a:avLst/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85816" y="2715768"/>
            <a:ext cx="603503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136B"/>
                </a:solidFill>
                <a:latin typeface="Arial"/>
              </a:rPr>
              <a:t>Map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2679192"/>
            <a:ext cx="749808" cy="594360"/>
          </a:xfrm>
          <a:prstGeom prst="rect">
            <a:avLst/>
          </a:prstGeom>
          <a:solidFill>
            <a:srgbClr val="171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6792" y="2715768"/>
            <a:ext cx="603503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Track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13448" y="2679192"/>
            <a:ext cx="1243584" cy="594360"/>
          </a:xfrm>
          <a:prstGeom prst="rect">
            <a:avLst/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86600" y="2715768"/>
            <a:ext cx="109728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136B"/>
                </a:solidFill>
                <a:latin typeface="Arial"/>
              </a:rPr>
              <a:t>Map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74519" y="3566160"/>
            <a:ext cx="6766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95959"/>
                </a:solidFill>
                <a:latin typeface="Arial"/>
              </a:rPr>
              <a:t>More mapping views compete for the same updates.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65760" y="4251960"/>
            <a:ext cx="8412480" cy="0"/>
          </a:xfrm>
          <a:prstGeom prst="line">
            <a:avLst/>
          </a:prstGeom>
          <a:ln w="19050">
            <a:solidFill>
              <a:srgbClr val="D4D6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11480" y="4352544"/>
            <a:ext cx="8321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36B"/>
                </a:solidFill>
                <a:latin typeface="Arial"/>
              </a:rPr>
              <a:t>Use available observations within available computation.</a:t>
            </a:r>
          </a:p>
        </p:txBody>
      </p:sp>
    </p:spTree>
  </p:cSld>
  <p:clrMapOvr>
    <a:masterClrMapping/>
  </p:clrMapOvr>
  <p:transition advClick="1" advTm="30000"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71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68580"/>
            <a:ext cx="877824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Arial"/>
              </a:rPr>
              <a:t>What Makes Online Mapping Difficult?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50392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95959"/>
                </a:solidFill>
                <a:latin typeface="Arial"/>
              </a:rPr>
              <a:t>Two requirements: convincing appearance and reliable geometry.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22792" y="4791456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5959"/>
                </a:solidFill>
                <a:latin typeface="Arial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54480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136B"/>
                </a:solidFill>
                <a:latin typeface="Arial"/>
              </a:rPr>
              <a:t>Under-optimized appearance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554480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136B"/>
                </a:solidFill>
                <a:latin typeface="Arial"/>
              </a:rPr>
              <a:t>Incorrect geometry</a:t>
            </a:r>
          </a:p>
        </p:txBody>
      </p:sp>
      <p:sp>
        <p:nvSpPr>
          <p:cNvPr id="8" name="IMAGE_PLACEHOLDER_underoptimized_crop"/>
          <p:cNvSpPr/>
          <p:nvPr/>
        </p:nvSpPr>
        <p:spPr>
          <a:xfrm>
            <a:off x="502920" y="2002536"/>
            <a:ext cx="3749039" cy="1508760"/>
          </a:xfrm>
          <a:prstGeom prst="rect">
            <a:avLst/>
          </a:prstGeom>
          <a:solidFill>
            <a:srgbClr val="FCFCFE"/>
          </a:solidFill>
          <a:ln w="12700">
            <a:solidFill>
              <a:srgbClr val="D4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19756"/>
            <a:ext cx="356615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0A2AD"/>
                </a:solidFill>
                <a:latin typeface="Arial"/>
              </a:rPr>
              <a:t>RECENT REGION / BLURRY RENDER</a:t>
            </a:r>
          </a:p>
        </p:txBody>
      </p:sp>
      <p:sp>
        <p:nvSpPr>
          <p:cNvPr id="10" name="IMAGE_PLACEHOLDER_floater_crop"/>
          <p:cNvSpPr/>
          <p:nvPr/>
        </p:nvSpPr>
        <p:spPr>
          <a:xfrm>
            <a:off x="4846320" y="2002536"/>
            <a:ext cx="3749039" cy="1508760"/>
          </a:xfrm>
          <a:prstGeom prst="rect">
            <a:avLst/>
          </a:prstGeom>
          <a:solidFill>
            <a:srgbClr val="FCFCFE"/>
          </a:solidFill>
          <a:ln w="12700">
            <a:solidFill>
              <a:srgbClr val="D4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59" y="2619756"/>
            <a:ext cx="356615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0A2AD"/>
                </a:solidFill>
                <a:latin typeface="Arial"/>
              </a:rPr>
              <a:t>FLOATER CLOSE-UP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639312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95959"/>
                </a:solidFill>
                <a:latin typeface="Arial"/>
              </a:rPr>
              <a:t>Too little useful supervision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639312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95959"/>
                </a:solidFill>
                <a:latin typeface="Arial"/>
              </a:rPr>
              <a:t>Opacity in observed free space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5760" y="4251960"/>
            <a:ext cx="8412480" cy="0"/>
          </a:xfrm>
          <a:prstGeom prst="line">
            <a:avLst/>
          </a:prstGeom>
          <a:ln w="19050">
            <a:solidFill>
              <a:srgbClr val="D4D6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11480" y="4352544"/>
            <a:ext cx="8321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36B"/>
                </a:solidFill>
                <a:latin typeface="Arial"/>
              </a:rPr>
              <a:t>How quickly can a newly observed region become reliable?</a:t>
            </a:r>
          </a:p>
        </p:txBody>
      </p:sp>
    </p:spTree>
  </p:cSld>
  <p:clrMapOvr>
    <a:masterClrMapping/>
  </p:clrMapOvr>
  <p:transition advClick="1" advTm="25000"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71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68580"/>
            <a:ext cx="877824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Arial"/>
              </a:rPr>
              <a:t>When Should We Add More Views?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50392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95959"/>
                </a:solidFill>
                <a:latin typeface="Arial"/>
              </a:rPr>
              <a:t>Use frames between keyframes, paced by completed optimization.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4791456"/>
            <a:ext cx="8275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595959"/>
                </a:solidFill>
                <a:latin typeface="Arial"/>
              </a:rPr>
              <a:t>§3.1  Optimization-Guided View Growth. Schematic; growth is capped by available observations.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22792" y="4791456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5959"/>
                </a:solidFill>
                <a:latin typeface="Arial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55448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95959"/>
                </a:solidFill>
                <a:latin typeface="Arial"/>
              </a:rPr>
              <a:t>Tracking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95959"/>
                </a:solidFill>
                <a:latin typeface="Arial"/>
              </a:rPr>
              <a:t>keyframes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331720" y="1581912"/>
            <a:ext cx="484632" cy="484632"/>
          </a:xfrm>
          <a:prstGeom prst="rect">
            <a:avLst/>
          </a:prstGeom>
          <a:solidFill>
            <a:srgbClr val="171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04872" y="1618488"/>
            <a:ext cx="33832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KF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08376" y="1581912"/>
            <a:ext cx="484632" cy="484632"/>
          </a:xfrm>
          <a:prstGeom prst="rect">
            <a:avLst/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81528" y="1618488"/>
            <a:ext cx="33832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5959"/>
                </a:solidFill>
                <a:latin typeface="Arial"/>
              </a:rPr>
              <a:t>RGB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85031" y="1581912"/>
            <a:ext cx="484632" cy="484632"/>
          </a:xfrm>
          <a:prstGeom prst="rect">
            <a:avLst/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58183" y="1618488"/>
            <a:ext cx="33832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5959"/>
                </a:solidFill>
                <a:latin typeface="Arial"/>
              </a:rPr>
              <a:t>RGB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61688" y="1581912"/>
            <a:ext cx="484632" cy="484632"/>
          </a:xfrm>
          <a:prstGeom prst="rect">
            <a:avLst/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618488"/>
            <a:ext cx="33832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5959"/>
                </a:solidFill>
                <a:latin typeface="Arial"/>
              </a:rPr>
              <a:t>RGB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38344" y="1581912"/>
            <a:ext cx="484632" cy="484632"/>
          </a:xfrm>
          <a:prstGeom prst="rect">
            <a:avLst/>
          </a:prstGeom>
          <a:solidFill>
            <a:srgbClr val="171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11496" y="1618488"/>
            <a:ext cx="33832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KF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0" y="1581912"/>
            <a:ext cx="484632" cy="484632"/>
          </a:xfrm>
          <a:prstGeom prst="rect">
            <a:avLst/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88152" y="1618488"/>
            <a:ext cx="33832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5959"/>
                </a:solidFill>
                <a:latin typeface="Arial"/>
              </a:rPr>
              <a:t>RGB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91655" y="1581912"/>
            <a:ext cx="484632" cy="484632"/>
          </a:xfrm>
          <a:prstGeom prst="rect">
            <a:avLst/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7" y="1618488"/>
            <a:ext cx="33832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5959"/>
                </a:solidFill>
                <a:latin typeface="Arial"/>
              </a:rPr>
              <a:t>RGB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68312" y="1581912"/>
            <a:ext cx="484632" cy="484632"/>
          </a:xfrm>
          <a:prstGeom prst="rect">
            <a:avLst/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41464" y="1618488"/>
            <a:ext cx="33832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5959"/>
                </a:solidFill>
                <a:latin typeface="Arial"/>
              </a:rPr>
              <a:t>RGB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44967" y="1581912"/>
            <a:ext cx="484632" cy="484632"/>
          </a:xfrm>
          <a:prstGeom prst="rect">
            <a:avLst/>
          </a:prstGeom>
          <a:solidFill>
            <a:srgbClr val="171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18119" y="1618488"/>
            <a:ext cx="33832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KF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1720" y="2185416"/>
            <a:ext cx="5897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Arial"/>
              </a:rPr>
              <a:t>Intermediate RGB frames also carry mapping information.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2706624"/>
            <a:ext cx="2331720" cy="566928"/>
          </a:xfrm>
          <a:prstGeom prst="rect">
            <a:avLst/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" y="2743200"/>
            <a:ext cx="2185415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36B"/>
                </a:solidFill>
                <a:latin typeface="Arial"/>
              </a:rPr>
              <a:t>Completed updates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3172968" y="2898648"/>
            <a:ext cx="438912" cy="18288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840480" y="2706624"/>
            <a:ext cx="2011680" cy="566928"/>
          </a:xfrm>
          <a:prstGeom prst="rect">
            <a:avLst/>
          </a:prstGeom>
          <a:solidFill>
            <a:srgbClr val="FAEE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13632" y="2743200"/>
            <a:ext cx="186537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78039"/>
                </a:solidFill>
                <a:latin typeface="Arial"/>
              </a:rPr>
              <a:t>Add a new view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6117336" y="2898648"/>
            <a:ext cx="438912" cy="18288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757416" y="2706624"/>
            <a:ext cx="1792224" cy="566928"/>
          </a:xfrm>
          <a:prstGeom prst="rect">
            <a:avLst/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30568" y="2743200"/>
            <a:ext cx="164592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36B"/>
                </a:solidFill>
                <a:latin typeface="Arial"/>
              </a:rPr>
              <a:t>Training pool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9139" y="3447288"/>
            <a:ext cx="2425720" cy="43891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02920" y="3977639"/>
            <a:ext cx="81381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5959"/>
                </a:solidFill>
                <a:latin typeface="Arial"/>
              </a:rPr>
              <a:t>N: training-pool size     S: completed GPU mapping updates     κ: updates per added view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65760" y="4251960"/>
            <a:ext cx="8412480" cy="0"/>
          </a:xfrm>
          <a:prstGeom prst="line">
            <a:avLst/>
          </a:prstGeom>
          <a:ln w="19050">
            <a:solidFill>
              <a:srgbClr val="D4D6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11480" y="4352544"/>
            <a:ext cx="8321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36B"/>
                </a:solidFill>
                <a:latin typeface="Arial"/>
              </a:rPr>
              <a:t>Grow supervision at the pace of optimization.</a:t>
            </a:r>
          </a:p>
        </p:txBody>
      </p:sp>
    </p:spTree>
  </p:cSld>
  <p:clrMapOvr>
    <a:masterClrMapping/>
  </p:clrMapOvr>
  <p:transition advClick="1" advTm="35000"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71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68580"/>
            <a:ext cx="877824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Arial"/>
              </a:rPr>
              <a:t>Which Views Should We Optimize?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50392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95959"/>
                </a:solidFill>
                <a:latin typeface="Arial"/>
              </a:rPr>
              <a:t>Give under-trained observations more opportunities, while mixing views.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4791456"/>
            <a:ext cx="8275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595959"/>
                </a:solidFill>
                <a:latin typeface="Arial"/>
              </a:rPr>
              <a:t>§3.2  ERCB — one-step formulation. Normalization by candidate count N; illustrative counts.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22792" y="4791456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5959"/>
                </a:solidFill>
                <a:latin typeface="Arial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99616"/>
            <a:ext cx="3657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36B"/>
                </a:solidFill>
                <a:latin typeface="Arial"/>
              </a:rPr>
              <a:t>Uneven optimization exposure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1956815"/>
            <a:ext cx="420624" cy="713232"/>
          </a:xfrm>
          <a:prstGeom prst="rect">
            <a:avLst/>
          </a:prstGeom>
          <a:solidFill>
            <a:srgbClr val="171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743200"/>
            <a:ext cx="51206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  <a:latin typeface="Arial"/>
              </a:rPr>
              <a:t>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55064" y="2121408"/>
            <a:ext cx="420624" cy="548640"/>
          </a:xfrm>
          <a:prstGeom prst="rect">
            <a:avLst/>
          </a:prstGeom>
          <a:solidFill>
            <a:srgbClr val="171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9344" y="2743200"/>
            <a:ext cx="51206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  <a:latin typeface="Arial"/>
              </a:rPr>
              <a:t>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14015" y="2395728"/>
            <a:ext cx="420624" cy="274320"/>
          </a:xfrm>
          <a:prstGeom prst="rect">
            <a:avLst/>
          </a:prstGeom>
          <a:solidFill>
            <a:srgbClr val="D78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68296" y="2743200"/>
            <a:ext cx="51206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  <a:latin typeface="Arial"/>
              </a:rPr>
              <a:t>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72968" y="2532888"/>
            <a:ext cx="420624" cy="137160"/>
          </a:xfrm>
          <a:prstGeom prst="rect">
            <a:avLst/>
          </a:prstGeom>
          <a:solidFill>
            <a:srgbClr val="D78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27248" y="2743200"/>
            <a:ext cx="51206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  <a:latin typeface="Arial"/>
              </a:rPr>
              <a:t>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2670048"/>
            <a:ext cx="3182111" cy="0"/>
          </a:xfrm>
          <a:prstGeom prst="line">
            <a:avLst/>
          </a:prstGeom>
          <a:ln w="19050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ight Arrow 16"/>
          <p:cNvSpPr/>
          <p:nvPr/>
        </p:nvSpPr>
        <p:spPr>
          <a:xfrm>
            <a:off x="4197096" y="2212848"/>
            <a:ext cx="475488" cy="201168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92040" y="1499616"/>
            <a:ext cx="37033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36B"/>
                </a:solidFill>
                <a:latin typeface="Arial"/>
              </a:rPr>
              <a:t>Count-aware randomized selection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38928" y="1993392"/>
            <a:ext cx="576072" cy="466344"/>
          </a:xfrm>
          <a:prstGeom prst="rect">
            <a:avLst/>
          </a:prstGeom>
          <a:solidFill>
            <a:srgbClr val="FAEE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0" y="2029968"/>
            <a:ext cx="42976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D78039"/>
                </a:solidFill>
                <a:latin typeface="Arial"/>
              </a:rPr>
              <a:t>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61888" y="1993392"/>
            <a:ext cx="576072" cy="466344"/>
          </a:xfrm>
          <a:prstGeom prst="rect">
            <a:avLst/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0" y="2029968"/>
            <a:ext cx="42976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136B"/>
                </a:solidFill>
                <a:latin typeface="Arial"/>
              </a:rPr>
              <a:t>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84848" y="1993392"/>
            <a:ext cx="576072" cy="466344"/>
          </a:xfrm>
          <a:prstGeom prst="rect">
            <a:avLst/>
          </a:prstGeom>
          <a:solidFill>
            <a:srgbClr val="FAEE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2029968"/>
            <a:ext cx="42976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D78039"/>
                </a:solidFill>
                <a:latin typeface="Arial"/>
              </a:rPr>
              <a:t>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7808" y="1993392"/>
            <a:ext cx="576072" cy="466344"/>
          </a:xfrm>
          <a:prstGeom prst="rect">
            <a:avLst/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0" y="2029968"/>
            <a:ext cx="42976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136B"/>
                </a:solidFill>
                <a:latin typeface="Arial"/>
              </a:rPr>
              <a:t>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2569464"/>
            <a:ext cx="397763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Arial"/>
              </a:rPr>
              <a:t>Less-trained views + diverse sampling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65760" y="3035808"/>
            <a:ext cx="8412480" cy="0"/>
          </a:xfrm>
          <a:prstGeom prst="line">
            <a:avLst/>
          </a:prstGeom>
          <a:ln w="19050">
            <a:solidFill>
              <a:srgbClr val="D4D6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38912" y="3218688"/>
            <a:ext cx="1691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7136B"/>
                </a:solidFill>
                <a:latin typeface="Arial"/>
              </a:rPr>
              <a:t>Normalized variance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7136B"/>
                </a:solidFill>
                <a:latin typeface="Arial"/>
              </a:rPr>
              <a:t>+ entropy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4360" y="3163824"/>
            <a:ext cx="4566919" cy="53035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38912" y="3831336"/>
            <a:ext cx="169164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7136B"/>
                </a:solidFill>
                <a:latin typeface="Arial"/>
              </a:rPr>
              <a:t>Softmax solution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7766" y="3730752"/>
            <a:ext cx="2820107" cy="521207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6061" y="4416552"/>
            <a:ext cx="1445636" cy="26517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617720" y="4398264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5959"/>
                </a:solidFill>
                <a:latin typeface="Arial"/>
              </a:rPr>
              <a:t>nᵢ: selection count    H: sampling entropy</a:t>
            </a:r>
          </a:p>
        </p:txBody>
      </p:sp>
    </p:spTree>
  </p:cSld>
  <p:clrMapOvr>
    <a:masterClrMapping/>
  </p:clrMapOvr>
  <p:transition advClick="1" advTm="35000"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71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68580"/>
            <a:ext cx="877824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Arial"/>
              </a:rPr>
              <a:t>Keeping Observed Free Space Empty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50392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95959"/>
                </a:solidFill>
                <a:latin typeface="Arial"/>
              </a:rPr>
              <a:t>A good color match can still hide an incorrect 3D structure.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4791456"/>
            <a:ext cx="8275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595959"/>
                </a:solidFill>
                <a:latin typeface="Arial"/>
              </a:rPr>
              <a:t>Carve concept from the current manuscript. Schematic; integrated geometry results remain to be validated.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22792" y="4791456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5959"/>
                </a:solidFill>
                <a:latin typeface="Arial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1856231" y="1993392"/>
            <a:ext cx="4133087" cy="1581912"/>
          </a:xfrm>
          <a:prstGeom prst="rect">
            <a:avLst/>
          </a:prstGeom>
          <a:solidFill>
            <a:srgbClr val="F4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40" y="1600200"/>
            <a:ext cx="393192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36B"/>
                </a:solidFill>
                <a:latin typeface="Arial"/>
              </a:rPr>
              <a:t>Observed free space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96312"/>
            <a:ext cx="1078992" cy="566928"/>
          </a:xfrm>
          <a:prstGeom prst="rect">
            <a:avLst/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2532888"/>
            <a:ext cx="932688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136B"/>
                </a:solidFill>
                <a:latin typeface="Arial"/>
              </a:rPr>
              <a:t>Camera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45336" y="2779776"/>
            <a:ext cx="6501384" cy="0"/>
          </a:xfrm>
          <a:prstGeom prst="line">
            <a:avLst/>
          </a:prstGeom>
          <a:ln w="25400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016752" y="1947672"/>
            <a:ext cx="109728" cy="1691640"/>
          </a:xfrm>
          <a:prstGeom prst="rect">
            <a:avLst/>
          </a:prstGeom>
          <a:solidFill>
            <a:srgbClr val="171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32704" y="3685032"/>
            <a:ext cx="94183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  <a:latin typeface="Arial"/>
              </a:rPr>
              <a:t>Observed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  <a:latin typeface="Arial"/>
              </a:rPr>
              <a:t>surface</a:t>
            </a:r>
          </a:p>
        </p:txBody>
      </p:sp>
      <p:sp>
        <p:nvSpPr>
          <p:cNvPr id="14" name="Oval 13"/>
          <p:cNvSpPr/>
          <p:nvPr/>
        </p:nvSpPr>
        <p:spPr>
          <a:xfrm>
            <a:off x="3383280" y="2542032"/>
            <a:ext cx="658368" cy="484632"/>
          </a:xfrm>
          <a:prstGeom prst="ellipse">
            <a:avLst/>
          </a:prstGeom>
          <a:solidFill>
            <a:srgbClr val="EFC49E"/>
          </a:solidFill>
          <a:ln w="12700">
            <a:solidFill>
              <a:srgbClr val="D780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98648" y="315468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D78039"/>
                </a:solidFill>
                <a:latin typeface="Arial"/>
              </a:rPr>
              <a:t>Reduce opacity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2002536"/>
            <a:ext cx="1874519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95959"/>
                </a:solidFill>
                <a:latin typeface="Arial"/>
              </a:rPr>
              <a:t>Unobserved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95959"/>
                </a:solidFill>
                <a:latin typeface="Arial"/>
              </a:rPr>
              <a:t>space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8" y="3127248"/>
            <a:ext cx="196596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  <a:latin typeface="Arial"/>
              </a:rPr>
              <a:t>No free-space claim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65760" y="4251960"/>
            <a:ext cx="8412480" cy="0"/>
          </a:xfrm>
          <a:prstGeom prst="line">
            <a:avLst/>
          </a:prstGeom>
          <a:ln w="19050">
            <a:solidFill>
              <a:srgbClr val="D4D6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11480" y="4352544"/>
            <a:ext cx="8321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36B"/>
                </a:solidFill>
                <a:latin typeface="Arial"/>
              </a:rPr>
              <a:t>Use causal depth evidence to suppress premature opacity.</a:t>
            </a:r>
          </a:p>
        </p:txBody>
      </p:sp>
    </p:spTree>
  </p:cSld>
  <p:clrMapOvr>
    <a:masterClrMapping/>
  </p:clrMapOvr>
  <p:transition advClick="1" advTm="35000"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71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68580"/>
            <a:ext cx="877824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Arial"/>
              </a:rPr>
              <a:t>Current Progress &amp;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50392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95959"/>
                </a:solidFill>
                <a:latin typeface="Arial"/>
              </a:rPr>
              <a:t>View growth and scheduling are implemented; joint validation is ongoing.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4791456"/>
            <a:ext cx="8275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595959"/>
                </a:solidFill>
                <a:latin typeface="Arial"/>
              </a:rPr>
              <a:t>Ongoing work: evaluate appearance, free-space consistency, and surface completeness together.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22792" y="4791456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5959"/>
                </a:solidFill>
                <a:latin typeface="Arial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545336"/>
            <a:ext cx="393192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36B"/>
                </a:solidFill>
                <a:latin typeface="Arial"/>
              </a:rPr>
              <a:t>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545336"/>
            <a:ext cx="393192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36B"/>
                </a:solidFill>
                <a:latin typeface="Arial"/>
              </a:rPr>
              <a:t>Proposed setting</a:t>
            </a:r>
          </a:p>
        </p:txBody>
      </p:sp>
      <p:sp>
        <p:nvSpPr>
          <p:cNvPr id="9" name="IMAGE_PLACEHOLDER_result_baseline"/>
          <p:cNvSpPr/>
          <p:nvPr/>
        </p:nvSpPr>
        <p:spPr>
          <a:xfrm>
            <a:off x="502920" y="1947672"/>
            <a:ext cx="3749039" cy="1581912"/>
          </a:xfrm>
          <a:prstGeom prst="rect">
            <a:avLst/>
          </a:prstGeom>
          <a:solidFill>
            <a:srgbClr val="FCFCFE"/>
          </a:solidFill>
          <a:ln w="12700">
            <a:solidFill>
              <a:srgbClr val="D4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601468"/>
            <a:ext cx="356615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0A2AD"/>
                </a:solidFill>
                <a:latin typeface="Arial"/>
              </a:rPr>
              <a:t>MATCHED VIEW / BASELINE</a:t>
            </a:r>
          </a:p>
        </p:txBody>
      </p:sp>
      <p:sp>
        <p:nvSpPr>
          <p:cNvPr id="11" name="IMAGE_PLACEHOLDER_result_proposed"/>
          <p:cNvSpPr/>
          <p:nvPr/>
        </p:nvSpPr>
        <p:spPr>
          <a:xfrm>
            <a:off x="4846320" y="1947672"/>
            <a:ext cx="3749039" cy="1581912"/>
          </a:xfrm>
          <a:prstGeom prst="rect">
            <a:avLst/>
          </a:prstGeom>
          <a:solidFill>
            <a:srgbClr val="FCFCFE"/>
          </a:solidFill>
          <a:ln w="12700">
            <a:solidFill>
              <a:srgbClr val="D4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59" y="2601468"/>
            <a:ext cx="356615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0A2AD"/>
                </a:solidFill>
                <a:latin typeface="Arial"/>
              </a:rPr>
              <a:t>MATCHED VIEW / PROPOSED</a:t>
            </a:r>
          </a:p>
        </p:txBody>
      </p:sp>
      <p:sp>
        <p:nvSpPr>
          <p:cNvPr id="13" name="IMAGE_PLACEHOLDER_result_metric"/>
          <p:cNvSpPr/>
          <p:nvPr/>
        </p:nvSpPr>
        <p:spPr>
          <a:xfrm>
            <a:off x="502920" y="3730752"/>
            <a:ext cx="8092440" cy="438912"/>
          </a:xfrm>
          <a:prstGeom prst="rect">
            <a:avLst/>
          </a:prstGeom>
          <a:solidFill>
            <a:srgbClr val="FCFCFE"/>
          </a:solidFill>
          <a:ln w="12700">
            <a:solidFill>
              <a:srgbClr val="D4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813048"/>
            <a:ext cx="7909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0A2AD"/>
                </a:solidFill>
                <a:latin typeface="Arial"/>
              </a:rPr>
              <a:t>KEY METRIC / EVALUATION CONDITIONS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361688"/>
            <a:ext cx="80924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36B"/>
                </a:solidFill>
                <a:latin typeface="Arial"/>
              </a:rPr>
              <a:t>Next: matched-budget appearance + geometry evaluation</a:t>
            </a:r>
          </a:p>
        </p:txBody>
      </p:sp>
    </p:spTree>
  </p:cSld>
  <p:clrMapOvr>
    <a:masterClrMapping/>
  </p:clrMapOvr>
  <p:transition advClick="1" advTm="50000"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71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68580"/>
            <a:ext cx="877824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Arial"/>
              </a:rPr>
              <a:t>Takeaway &amp; 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22792" y="4791456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5959"/>
                </a:solidFill>
                <a:latin typeface="Arial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80467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7136B"/>
                </a:solidFill>
                <a:latin typeface="Arial"/>
              </a:rPr>
              <a:t>Make each unit of online computation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7136B"/>
                </a:solidFill>
                <a:latin typeface="Arial"/>
              </a:rPr>
              <a:t>produce a more useful map.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2199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D78039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79776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136B"/>
                </a:solidFill>
                <a:latin typeface="Arial"/>
              </a:rPr>
              <a:t>When to add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319272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95959"/>
                </a:solidFill>
                <a:latin typeface="Arial"/>
              </a:rPr>
              <a:t>Pace view growth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222199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D78039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779776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136B"/>
                </a:solidFill>
                <a:latin typeface="Arial"/>
              </a:rPr>
              <a:t>What to optimize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3319272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95959"/>
                </a:solidFill>
                <a:latin typeface="Arial"/>
              </a:rPr>
              <a:t>Balance exposure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22199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D78039"/>
                </a:solidFill>
                <a:latin typeface="Arial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779776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136B"/>
                </a:solidFill>
                <a:latin typeface="Arial"/>
              </a:rPr>
              <a:t>Where to constrain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3319272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95959"/>
                </a:solidFill>
                <a:latin typeface="Arial"/>
              </a:rPr>
              <a:t>Use free-space evidence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65760" y="4251960"/>
            <a:ext cx="8412480" cy="0"/>
          </a:xfrm>
          <a:prstGeom prst="line">
            <a:avLst/>
          </a:prstGeom>
          <a:ln w="19050">
            <a:solidFill>
              <a:srgbClr val="D4D6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11480" y="4352544"/>
            <a:ext cx="8321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36B"/>
                </a:solidFill>
                <a:latin typeface="Arial"/>
              </a:rPr>
              <a:t>Next: validate appearance and geometry gains at the native input rate.</a:t>
            </a:r>
          </a:p>
        </p:txBody>
      </p:sp>
    </p:spTree>
  </p:cSld>
  <p:clrMapOvr>
    <a:masterClrMapping/>
  </p:clrMapOvr>
  <p:transition advClick="1" advTm="25000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GS Mapping on Aria</dc:title>
  <dc:subject>Five-minute internship presentation, 2026-09-18</dc:subject>
  <dc:creator>Sangwon Park, Dong Hwi Kim, Chaehyeon Song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