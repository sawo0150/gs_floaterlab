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g/iFA5XOZ8ZYd9stzmZx0pd8tz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00:00–00:10 | Presenter: Sangwon Park. Names: Sangwon Park, Dong Hwi Kim, Chaehyeon Song. Equal emphasis, as in the reference.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00:10–00:40 | Representation → photorealism → fast rendering. Reference images are illustrative, not our results.</a:t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00:40–01:05 | Aria is the sensing platform; do not imply on-device computation. Map image slot is a real project output.</a:t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01:05–01:35 | Single shared compute resource; sequential input; no future views. Timing drawing is schematic.</a:t>
            </a:r>
            <a:endParaRPr/>
          </a:p>
        </p:txBody>
      </p:sp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01:35–02:00 | Two distinct failure modes. Add actual crops; do not treat a conceptual image as experimental evidence.</a:t>
            </a:r>
            <a:endParaRPr/>
          </a:p>
        </p:txBody>
      </p:sp>
      <p:sp>
        <p:nvSpPr>
          <p:cNvPr id="173" name="Google Shape;17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02:00–02:35 | N(t)-N0 approximately S(t)/kappa for available candidates and work-conserving admission. Exact cap: min(M(t),N0+floor(S(t)/kappa)). N is pool size; S is completed mapping updates, not GPU utilization. No hardware-invariance claim.</a:t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02:35–03:10 | Per-view count derivation from §3.2. Vnorm(n)=sum((n_i-mean(n))²)/(2N); Δ_i is its change after one selection. Minimize expected next-step variance change minus tau*entropy. Exact p_i=softmax(-beta*n_i), beta=1/(N*tau). N-normalization rescales temperature; it is not mean-normalization/CV². Candidate set fixed for this derivation; actual block sampling uses remaining candidates without replacement. No global equality/convergence guarantee. See MATH_NOTES.md.</a:t>
            </a:r>
            <a:endParaRPr/>
          </a:p>
        </p:txBody>
      </p:sp>
      <p:sp>
        <p:nvSpPr>
          <p:cNvPr id="232" name="Google Shape;23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03:10–03:45 | One-sided Carve intuition: suppress opacity before a depth-supported surface; leave unobserved space unconstrained. Carve/Hit choice still under study.</a:t>
            </a:r>
            <a:endParaRPr/>
          </a:p>
        </p:txBody>
      </p:sp>
      <p:sp>
        <p:nvSpPr>
          <p:cNvPr id="270" name="Google Shape;27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03:45–04:35 | Fill comparison and metric before presentation. No invented numbers. Report dataset, GPU, budget, held-out split, repeats, tail policy. Identify personal contribution after confirming division of work.</a:t>
            </a:r>
            <a:endParaRPr/>
          </a:p>
        </p:txBody>
      </p:sp>
      <p:sp>
        <p:nvSpPr>
          <p:cNvPr id="293" name="Google Shape;29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04:35–05:00 | Recap research direction, not an unverified success claim. Hold conclusion for final five seconds.</a:t>
            </a:r>
            <a:endParaRPr/>
          </a:p>
        </p:txBody>
      </p:sp>
      <p:sp>
        <p:nvSpPr>
          <p:cNvPr id="314" name="Google Shape;31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457200" y="64008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Real-time GS Mapping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 Aria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40080" y="1938528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Building useful maps under limited compute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411480" y="3063240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Sangwon Park, Dong Hwi Kim, Chaehyeon Song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40080" y="3639312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RPM Lab, Seoul National University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Internship Presentation  ·  September 18,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Gaussian Splatting?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Represent a scene with colored, semi-transparent 3D Gaussians.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Image source: supplied reference deck, slide 3. Kerbl et al., 3D Gaussian Splatting, SIGGRAPH 2023.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365760" y="1536192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Point cloud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4343400" y="1536192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Gaussian representation / rendering</a:t>
            </a:r>
            <a:endParaRPr/>
          </a:p>
        </p:txBody>
      </p:sp>
      <p:pic>
        <p:nvPicPr>
          <p:cNvPr descr="image.png"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105276"/>
            <a:ext cx="3383280" cy="159588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>
            <a:off x="3904487" y="2779776"/>
            <a:ext cx="347472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5304" y="1920240"/>
            <a:ext cx="3495039" cy="19659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2"/>
          <p:cNvCxnSpPr/>
          <p:nvPr/>
        </p:nvCxnSpPr>
        <p:spPr>
          <a:xfrm>
            <a:off x="365760" y="425196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4D6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2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Photorealistic appearance + fast rendering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Real-time Mapping?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robot or AR user needs a useful map while moving.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256032" y="4791456"/>
            <a:ext cx="8275200" cy="2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Image credit: Meta / Tom’s Guide (2025), as credited in the supplied reference deck. MIT CSAIL. MIT, August 2022. https://www.csail.mit.edu/sites/default/files/styles/primary_image/public/2022-08/LIS-PR2_1.png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pic>
        <p:nvPicPr>
          <p:cNvPr descr="image.png"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713888"/>
            <a:ext cx="3337560" cy="187574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502920" y="368503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Observe the environment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3977639" y="2532888"/>
            <a:ext cx="438912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4663440" y="3685032"/>
            <a:ext cx="39776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Build and use the map now</a:t>
            </a:r>
            <a:endParaRPr/>
          </a:p>
        </p:txBody>
      </p:sp>
      <p:cxnSp>
        <p:nvCxnSpPr>
          <p:cNvPr id="122" name="Google Shape;122;p3"/>
          <p:cNvCxnSpPr/>
          <p:nvPr/>
        </p:nvCxnSpPr>
        <p:spPr>
          <a:xfrm>
            <a:off x="365760" y="425196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4D6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3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Fast rendering does not guarantee fast map convergence.</a:t>
            </a:r>
            <a:endParaRPr/>
          </a:p>
        </p:txBody>
      </p:sp>
      <p:pic>
        <p:nvPicPr>
          <p:cNvPr id="124" name="Google Shape;1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7148" y="1703063"/>
            <a:ext cx="3450232" cy="19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Mapping under Limited Compute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Tracking and mapping share a finite online compute budget.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Conceptual allocation only; block widths are not measured timings.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411480" y="161848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Incoming frames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1874519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1947672" y="1655064"/>
            <a:ext cx="4480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2706624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2779776" y="1655064"/>
            <a:ext cx="4480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3538728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3611880" y="1655064"/>
            <a:ext cx="4480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370831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4443983" y="1655064"/>
            <a:ext cx="4480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5202936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276088" y="1655064"/>
            <a:ext cx="4480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6035040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108192" y="1655064"/>
            <a:ext cx="4480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6867144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6940296" y="1655064"/>
            <a:ext cx="4480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7699248" y="1618488"/>
            <a:ext cx="594360" cy="402336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7772400" y="1655064"/>
            <a:ext cx="4480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cxnSp>
        <p:nvCxnSpPr>
          <p:cNvPr id="152" name="Google Shape;152;p4"/>
          <p:cNvCxnSpPr/>
          <p:nvPr/>
        </p:nvCxnSpPr>
        <p:spPr>
          <a:xfrm>
            <a:off x="1865376" y="2148840"/>
            <a:ext cx="6775704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4"/>
          <p:cNvSpPr txBox="1"/>
          <p:nvPr/>
        </p:nvSpPr>
        <p:spPr>
          <a:xfrm>
            <a:off x="6766560" y="22128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time →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411480" y="2679192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Shared GPU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(schematic)</a:t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1874519" y="2679192"/>
            <a:ext cx="914400" cy="59436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1947672" y="2715768"/>
            <a:ext cx="768096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2788920" y="2679192"/>
            <a:ext cx="1078992" cy="594360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2862072" y="2715768"/>
            <a:ext cx="932688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4069080" y="2679192"/>
            <a:ext cx="1243584" cy="59436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4142232" y="2715768"/>
            <a:ext cx="10972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</a:t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5312664" y="2679192"/>
            <a:ext cx="749808" cy="594360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5385816" y="2715768"/>
            <a:ext cx="603503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6263640" y="2679192"/>
            <a:ext cx="749808" cy="59436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6336792" y="2715768"/>
            <a:ext cx="603503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7013448" y="2679192"/>
            <a:ext cx="1243584" cy="594360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7086600" y="2715768"/>
            <a:ext cx="109728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1874519" y="3566160"/>
            <a:ext cx="6766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More mapping views compete for the same updates.</a:t>
            </a:r>
            <a:endParaRPr/>
          </a:p>
        </p:txBody>
      </p:sp>
      <p:cxnSp>
        <p:nvCxnSpPr>
          <p:cNvPr id="168" name="Google Shape;168;p4"/>
          <p:cNvCxnSpPr/>
          <p:nvPr/>
        </p:nvCxnSpPr>
        <p:spPr>
          <a:xfrm>
            <a:off x="365760" y="425196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4D6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4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Use available observations within available computation.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Makes Online Mapping Difficult?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Two requirements: convincing appearance and reliable geometry.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411480" y="15544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Under-optimized appearance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Incorrect geometry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502920" y="3639312"/>
            <a:ext cx="374903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Too little useful supervision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4846320" y="3639312"/>
            <a:ext cx="374903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Opacity in observed free space</a:t>
            </a:r>
            <a:endParaRPr/>
          </a:p>
        </p:txBody>
      </p:sp>
      <p:cxnSp>
        <p:nvCxnSpPr>
          <p:cNvPr id="183" name="Google Shape;183;p5"/>
          <p:cNvCxnSpPr/>
          <p:nvPr/>
        </p:nvCxnSpPr>
        <p:spPr>
          <a:xfrm>
            <a:off x="365760" y="425196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4D6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5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How quickly can a newly observed region become reliable?</a:t>
            </a:r>
            <a:endParaRPr/>
          </a:p>
        </p:txBody>
      </p:sp>
      <p:pic>
        <p:nvPicPr>
          <p:cNvPr id="185" name="Google Shape;18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525" y="1958424"/>
            <a:ext cx="2823832" cy="173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1250" y="1889838"/>
            <a:ext cx="2829389" cy="173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When Should We Add More Views?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Use frames between keyframes, paced by completed optimization.</a:t>
            </a:r>
            <a:endParaRPr/>
          </a:p>
        </p:txBody>
      </p:sp>
      <p:sp>
        <p:nvSpPr>
          <p:cNvPr id="195" name="Google Shape;195;p6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§3.1  Optimization-Guided View Growth. Schematic; growth is capped by available observations.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411480" y="15544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Tracking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keyframes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2331720" y="1581912"/>
            <a:ext cx="484632" cy="484632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2404872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KF</a:t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3008376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3081528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3685031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3758183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4361688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4434840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5038344" y="1581912"/>
            <a:ext cx="484632" cy="484632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5111496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KF</a:t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5715000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5788152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6391655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6464807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7068312" y="1581912"/>
            <a:ext cx="484632" cy="484632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7141464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7744967" y="1581912"/>
            <a:ext cx="484632" cy="484632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7818119" y="1618488"/>
            <a:ext cx="33832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KF</a:t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2331720" y="2185416"/>
            <a:ext cx="5897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Intermediate RGB frames also carry mapping information.</a:t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594360" y="2706624"/>
            <a:ext cx="2331720" cy="566928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667512" y="2743200"/>
            <a:ext cx="2185415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Completed updates</a:t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3172968" y="2898648"/>
            <a:ext cx="438912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3840480" y="2706624"/>
            <a:ext cx="2011680" cy="566928"/>
          </a:xfrm>
          <a:prstGeom prst="rect">
            <a:avLst/>
          </a:prstGeom>
          <a:solidFill>
            <a:srgbClr val="FAEE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3913632" y="2743200"/>
            <a:ext cx="18653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78039"/>
                </a:solidFill>
                <a:latin typeface="Arial"/>
                <a:ea typeface="Arial"/>
                <a:cs typeface="Arial"/>
                <a:sym typeface="Arial"/>
              </a:rPr>
              <a:t>Add a new view</a:t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6117336" y="2898648"/>
            <a:ext cx="438912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757416" y="2706624"/>
            <a:ext cx="1792224" cy="566928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6830568" y="2743200"/>
            <a:ext cx="16459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Training pool</a:t>
            </a:r>
            <a:endParaRPr/>
          </a:p>
        </p:txBody>
      </p:sp>
      <p:pic>
        <p:nvPicPr>
          <p:cNvPr descr="image.png" id="225" name="Google Shape;2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9139" y="3447288"/>
            <a:ext cx="2425720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6"/>
          <p:cNvSpPr txBox="1"/>
          <p:nvPr/>
        </p:nvSpPr>
        <p:spPr>
          <a:xfrm>
            <a:off x="502920" y="3977639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N: training-pool size     S: completed GPU mapping updates     κ: updates per added view</a:t>
            </a:r>
            <a:endParaRPr/>
          </a:p>
        </p:txBody>
      </p:sp>
      <p:cxnSp>
        <p:nvCxnSpPr>
          <p:cNvPr id="227" name="Google Shape;227;p6"/>
          <p:cNvCxnSpPr/>
          <p:nvPr/>
        </p:nvCxnSpPr>
        <p:spPr>
          <a:xfrm>
            <a:off x="365760" y="425196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4D6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6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Grow supervision at the pace of optimization.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Which Views Should We Optimize?</a:t>
            </a:r>
            <a:endParaRPr/>
          </a:p>
        </p:txBody>
      </p:sp>
      <p:sp>
        <p:nvSpPr>
          <p:cNvPr id="236" name="Google Shape;236;p7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Give under-trained observations more opportunities, while mixing views.</a:t>
            </a:r>
            <a:endParaRPr/>
          </a:p>
        </p:txBody>
      </p:sp>
      <p:sp>
        <p:nvSpPr>
          <p:cNvPr id="237" name="Google Shape;237;p7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§3.2  ERCB — one-step formulation. Normalization by candidate count N; illustrative counts.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457200" y="1499616"/>
            <a:ext cx="3657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Uneven optimization exposure</a:t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896112" y="1956815"/>
            <a:ext cx="420624" cy="713232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850392" y="2743200"/>
            <a:ext cx="5120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1655064" y="2121408"/>
            <a:ext cx="420624" cy="54864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1609344" y="2743200"/>
            <a:ext cx="5120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2414015" y="2395728"/>
            <a:ext cx="420624" cy="274320"/>
          </a:xfrm>
          <a:prstGeom prst="rect">
            <a:avLst/>
          </a:prstGeom>
          <a:solidFill>
            <a:srgbClr val="D780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2368296" y="2743200"/>
            <a:ext cx="5120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3172968" y="2532888"/>
            <a:ext cx="420624" cy="137160"/>
          </a:xfrm>
          <a:prstGeom prst="rect">
            <a:avLst/>
          </a:prstGeom>
          <a:solidFill>
            <a:srgbClr val="D780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3127248" y="2743200"/>
            <a:ext cx="5120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248" name="Google Shape;248;p7"/>
          <p:cNvCxnSpPr/>
          <p:nvPr/>
        </p:nvCxnSpPr>
        <p:spPr>
          <a:xfrm>
            <a:off x="640080" y="2670048"/>
            <a:ext cx="3182111" cy="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7"/>
          <p:cNvSpPr/>
          <p:nvPr/>
        </p:nvSpPr>
        <p:spPr>
          <a:xfrm>
            <a:off x="4197096" y="2212848"/>
            <a:ext cx="475488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4892040" y="1499616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Count-aware randomized selection</a:t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5138928" y="1993392"/>
            <a:ext cx="576072" cy="466344"/>
          </a:xfrm>
          <a:prstGeom prst="rect">
            <a:avLst/>
          </a:prstGeom>
          <a:solidFill>
            <a:srgbClr val="FAEE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 txBox="1"/>
          <p:nvPr/>
        </p:nvSpPr>
        <p:spPr>
          <a:xfrm>
            <a:off x="5212080" y="2029968"/>
            <a:ext cx="429768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78039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5961888" y="1993392"/>
            <a:ext cx="576072" cy="466344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6035040" y="2029968"/>
            <a:ext cx="429768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6784848" y="1993392"/>
            <a:ext cx="576072" cy="466344"/>
          </a:xfrm>
          <a:prstGeom prst="rect">
            <a:avLst/>
          </a:prstGeom>
          <a:solidFill>
            <a:srgbClr val="FAEE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 txBox="1"/>
          <p:nvPr/>
        </p:nvSpPr>
        <p:spPr>
          <a:xfrm>
            <a:off x="6858000" y="2029968"/>
            <a:ext cx="429768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78039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7607808" y="1993392"/>
            <a:ext cx="576072" cy="466344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 txBox="1"/>
          <p:nvPr/>
        </p:nvSpPr>
        <p:spPr>
          <a:xfrm>
            <a:off x="7680960" y="2029968"/>
            <a:ext cx="429768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59" name="Google Shape;259;p7"/>
          <p:cNvSpPr txBox="1"/>
          <p:nvPr/>
        </p:nvSpPr>
        <p:spPr>
          <a:xfrm>
            <a:off x="4800600" y="2569464"/>
            <a:ext cx="397763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Less-trained views + diverse sampling</a:t>
            </a:r>
            <a:endParaRPr/>
          </a:p>
        </p:txBody>
      </p:sp>
      <p:cxnSp>
        <p:nvCxnSpPr>
          <p:cNvPr id="260" name="Google Shape;260;p7"/>
          <p:cNvCxnSpPr/>
          <p:nvPr/>
        </p:nvCxnSpPr>
        <p:spPr>
          <a:xfrm>
            <a:off x="365760" y="3035808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4D6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7"/>
          <p:cNvSpPr txBox="1"/>
          <p:nvPr/>
        </p:nvSpPr>
        <p:spPr>
          <a:xfrm>
            <a:off x="438912" y="3218688"/>
            <a:ext cx="1691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Normalized variance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+ entropy</a:t>
            </a:r>
            <a:endParaRPr/>
          </a:p>
        </p:txBody>
      </p:sp>
      <p:pic>
        <p:nvPicPr>
          <p:cNvPr descr="image.png" id="262" name="Google Shape;2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4977" y="3163825"/>
            <a:ext cx="3779435" cy="4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7"/>
          <p:cNvSpPr txBox="1"/>
          <p:nvPr/>
        </p:nvSpPr>
        <p:spPr>
          <a:xfrm>
            <a:off x="438912" y="3831336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Softmax solution</a:t>
            </a:r>
            <a:endParaRPr/>
          </a:p>
        </p:txBody>
      </p:sp>
      <p:pic>
        <p:nvPicPr>
          <p:cNvPr descr="image.png" id="264" name="Google Shape;2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9300" y="3707900"/>
            <a:ext cx="2968533" cy="54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52598" y="4327399"/>
            <a:ext cx="2143448" cy="39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"/>
          <p:cNvSpPr txBox="1"/>
          <p:nvPr/>
        </p:nvSpPr>
        <p:spPr>
          <a:xfrm>
            <a:off x="4617720" y="4398264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nᵢ: selection count    H: sampling entropy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Keeping Observed Free Space Empty</a:t>
            </a:r>
            <a:endParaRPr/>
          </a:p>
        </p:txBody>
      </p:sp>
      <p:sp>
        <p:nvSpPr>
          <p:cNvPr id="274" name="Google Shape;274;p8"/>
          <p:cNvSpPr txBox="1"/>
          <p:nvPr/>
        </p:nvSpPr>
        <p:spPr>
          <a:xfrm>
            <a:off x="365760" y="850392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good color match can still hide an incorrect 3D structure.</a:t>
            </a:r>
            <a:endParaRPr/>
          </a:p>
        </p:txBody>
      </p:sp>
      <p:sp>
        <p:nvSpPr>
          <p:cNvPr id="275" name="Google Shape;275;p8"/>
          <p:cNvSpPr txBox="1"/>
          <p:nvPr/>
        </p:nvSpPr>
        <p:spPr>
          <a:xfrm>
            <a:off x="256032" y="4791456"/>
            <a:ext cx="8275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Carve concept from the current manuscript. Schematic; integrated geometry results remain to be validated.</a:t>
            </a:r>
            <a:endParaRPr/>
          </a:p>
        </p:txBody>
      </p:sp>
      <p:sp>
        <p:nvSpPr>
          <p:cNvPr id="276" name="Google Shape;276;p8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1856231" y="1993392"/>
            <a:ext cx="4133087" cy="1581912"/>
          </a:xfrm>
          <a:prstGeom prst="rect">
            <a:avLst/>
          </a:prstGeom>
          <a:solidFill>
            <a:srgbClr val="F4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1920240" y="1600200"/>
            <a:ext cx="3931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Observed free space</a:t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457200" y="2496312"/>
            <a:ext cx="1078992" cy="566928"/>
          </a:xfrm>
          <a:prstGeom prst="rect">
            <a:avLst/>
          </a:prstGeom>
          <a:solidFill>
            <a:srgbClr val="EEF0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530352" y="2532888"/>
            <a:ext cx="93268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Camera</a:t>
            </a:r>
            <a:endParaRPr/>
          </a:p>
        </p:txBody>
      </p:sp>
      <p:cxnSp>
        <p:nvCxnSpPr>
          <p:cNvPr id="281" name="Google Shape;281;p8"/>
          <p:cNvCxnSpPr/>
          <p:nvPr/>
        </p:nvCxnSpPr>
        <p:spPr>
          <a:xfrm>
            <a:off x="1545336" y="2779776"/>
            <a:ext cx="6501384" cy="0"/>
          </a:xfrm>
          <a:prstGeom prst="straightConnector1">
            <a:avLst/>
          </a:prstGeom>
          <a:noFill/>
          <a:ln cap="flat" cmpd="sng" w="25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8"/>
          <p:cNvSpPr/>
          <p:nvPr/>
        </p:nvSpPr>
        <p:spPr>
          <a:xfrm>
            <a:off x="6016752" y="1947672"/>
            <a:ext cx="109728" cy="169164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5632704" y="3685032"/>
            <a:ext cx="9418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Observed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surface</a:t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3383280" y="2542032"/>
            <a:ext cx="658368" cy="484632"/>
          </a:xfrm>
          <a:prstGeom prst="ellipse">
            <a:avLst/>
          </a:prstGeom>
          <a:solidFill>
            <a:srgbClr val="EFC49E"/>
          </a:solidFill>
          <a:ln cap="flat" cmpd="sng" w="12700">
            <a:solidFill>
              <a:srgbClr val="D780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 txBox="1"/>
          <p:nvPr/>
        </p:nvSpPr>
        <p:spPr>
          <a:xfrm>
            <a:off x="2898648" y="315468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78039"/>
                </a:solidFill>
                <a:latin typeface="Arial"/>
                <a:ea typeface="Arial"/>
                <a:cs typeface="Arial"/>
                <a:sym typeface="Arial"/>
              </a:rPr>
              <a:t>Reduce opacity</a:t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>
            <a:off x="6601968" y="2002536"/>
            <a:ext cx="1874519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Unobserved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space</a:t>
            </a:r>
            <a:endParaRPr/>
          </a:p>
        </p:txBody>
      </p:sp>
      <p:sp>
        <p:nvSpPr>
          <p:cNvPr id="287" name="Google Shape;287;p8"/>
          <p:cNvSpPr txBox="1"/>
          <p:nvPr/>
        </p:nvSpPr>
        <p:spPr>
          <a:xfrm>
            <a:off x="6556248" y="3127248"/>
            <a:ext cx="19659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No free-space claim</a:t>
            </a:r>
            <a:endParaRPr/>
          </a:p>
        </p:txBody>
      </p:sp>
      <p:cxnSp>
        <p:nvCxnSpPr>
          <p:cNvPr id="288" name="Google Shape;288;p8"/>
          <p:cNvCxnSpPr/>
          <p:nvPr/>
        </p:nvCxnSpPr>
        <p:spPr>
          <a:xfrm>
            <a:off x="365760" y="425196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4D6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8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Use causal depth evidence to suppress premature opacity.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 txBox="1"/>
          <p:nvPr/>
        </p:nvSpPr>
        <p:spPr>
          <a:xfrm>
            <a:off x="182880" y="68580"/>
            <a:ext cx="877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Current Progress &amp; Evaluation</a:t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381000" y="1428750"/>
            <a:ext cx="2619300" cy="2190900"/>
          </a:xfrm>
          <a:prstGeom prst="roundRect">
            <a:avLst>
              <a:gd fmla="val 3478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3262313" y="1428750"/>
            <a:ext cx="2619300" cy="2190900"/>
          </a:xfrm>
          <a:prstGeom prst="roundRect">
            <a:avLst>
              <a:gd fmla="val 3478" name="adj"/>
            </a:avLst>
          </a:prstGeom>
          <a:solidFill>
            <a:srgbClr val="F4F5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6143625" y="1428750"/>
            <a:ext cx="2619300" cy="2190900"/>
          </a:xfrm>
          <a:prstGeom prst="roundRect">
            <a:avLst>
              <a:gd fmla="val 3478" name="adj"/>
            </a:avLst>
          </a:prstGeom>
          <a:solidFill>
            <a:srgbClr val="F9FAFB"/>
          </a:solidFill>
          <a:ln cap="flat" cmpd="sng" w="14300">
            <a:solidFill>
              <a:srgbClr val="1713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381000" y="3905250"/>
            <a:ext cx="8382000" cy="514500"/>
          </a:xfrm>
          <a:prstGeom prst="roundRect">
            <a:avLst>
              <a:gd fmla="val 11111" name="adj"/>
            </a:avLst>
          </a:prstGeom>
          <a:solidFill>
            <a:srgbClr val="EEF0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 txBox="1"/>
          <p:nvPr/>
        </p:nvSpPr>
        <p:spPr>
          <a:xfrm>
            <a:off x="365760" y="850392"/>
            <a:ext cx="8412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View growth and scheduling are implemented; joint validation is ongoing.</a:t>
            </a:r>
            <a:endParaRPr/>
          </a:p>
        </p:txBody>
      </p:sp>
      <p:sp>
        <p:nvSpPr>
          <p:cNvPr id="302" name="Google Shape;302;p9"/>
          <p:cNvSpPr txBox="1"/>
          <p:nvPr/>
        </p:nvSpPr>
        <p:spPr>
          <a:xfrm>
            <a:off x="381000" y="1571625"/>
            <a:ext cx="26193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b="1" sz="1500">
              <a:solidFill>
                <a:srgbClr val="1713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3262313" y="1571625"/>
            <a:ext cx="26193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Proposed Setting</a:t>
            </a:r>
            <a:endParaRPr b="1" sz="1500">
              <a:solidFill>
                <a:srgbClr val="1713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380975" y="4113150"/>
            <a:ext cx="8382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KEY METRIC / EVALUATION CONDITIONS</a:t>
            </a:r>
            <a:r>
              <a:rPr b="1" lang="en-US" sz="1200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Next: matched-budget appearance + geometry evaluation</a:t>
            </a:r>
            <a:endParaRPr b="1" sz="1200">
              <a:solidFill>
                <a:srgbClr val="1713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6143625" y="1571625"/>
            <a:ext cx="2619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78039"/>
                </a:solidFill>
                <a:latin typeface="Arial"/>
                <a:ea typeface="Arial"/>
                <a:cs typeface="Arial"/>
                <a:sym typeface="Arial"/>
              </a:rPr>
              <a:t>Quantitative Metrics</a:t>
            </a:r>
            <a:endParaRPr b="1" sz="1500">
              <a:solidFill>
                <a:srgbClr val="D7803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256032" y="4791456"/>
            <a:ext cx="82752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Ongoing work: evaluate appearance, free-space consistency, and surface completeness together.</a:t>
            </a:r>
            <a:endParaRPr/>
          </a:p>
        </p:txBody>
      </p:sp>
      <p:pic>
        <p:nvPicPr>
          <p:cNvPr id="307" name="Google Shape;307;p9"/>
          <p:cNvPicPr preferRelativeResize="0"/>
          <p:nvPr/>
        </p:nvPicPr>
        <p:blipFill rotWithShape="1">
          <a:blip r:embed="rId3">
            <a:alphaModFix/>
          </a:blip>
          <a:srcRect b="0" l="338" r="328" t="0"/>
          <a:stretch/>
        </p:blipFill>
        <p:spPr>
          <a:xfrm>
            <a:off x="523875" y="2047875"/>
            <a:ext cx="23337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9"/>
          <p:cNvPicPr preferRelativeResize="0"/>
          <p:nvPr/>
        </p:nvPicPr>
        <p:blipFill rotWithShape="1">
          <a:blip r:embed="rId4">
            <a:alphaModFix/>
          </a:blip>
          <a:srcRect b="0" l="159" r="159" t="0"/>
          <a:stretch/>
        </p:blipFill>
        <p:spPr>
          <a:xfrm>
            <a:off x="3405188" y="2047875"/>
            <a:ext cx="23337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9"/>
          <p:cNvPicPr preferRelativeResize="0"/>
          <p:nvPr/>
        </p:nvPicPr>
        <p:blipFill rotWithShape="1">
          <a:blip r:embed="rId5">
            <a:alphaModFix/>
          </a:blip>
          <a:srcRect b="70" l="0" r="0" t="70"/>
          <a:stretch/>
        </p:blipFill>
        <p:spPr>
          <a:xfrm>
            <a:off x="6286500" y="2133600"/>
            <a:ext cx="2333700" cy="11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9"/>
          <p:cNvSpPr txBox="1"/>
          <p:nvPr/>
        </p:nvSpPr>
        <p:spPr>
          <a:xfrm>
            <a:off x="8622792" y="4791456"/>
            <a:ext cx="274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713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 txBox="1"/>
          <p:nvPr/>
        </p:nvSpPr>
        <p:spPr>
          <a:xfrm>
            <a:off x="182880" y="68580"/>
            <a:ext cx="877824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Takeaway &amp; Next Step</a:t>
            </a:r>
            <a:endParaRPr/>
          </a:p>
        </p:txBody>
      </p:sp>
      <p:sp>
        <p:nvSpPr>
          <p:cNvPr id="318" name="Google Shape;318;p10"/>
          <p:cNvSpPr txBox="1"/>
          <p:nvPr/>
        </p:nvSpPr>
        <p:spPr>
          <a:xfrm>
            <a:off x="8622792" y="479145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19" name="Google Shape;319;p10"/>
          <p:cNvSpPr txBox="1"/>
          <p:nvPr/>
        </p:nvSpPr>
        <p:spPr>
          <a:xfrm>
            <a:off x="548640" y="96012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Make each unit of online computation</a:t>
            </a:r>
            <a:endParaRPr/>
          </a:p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produce a more useful map.</a:t>
            </a:r>
            <a:endParaRPr/>
          </a:p>
        </p:txBody>
      </p:sp>
      <p:sp>
        <p:nvSpPr>
          <p:cNvPr id="320" name="Google Shape;320;p10"/>
          <p:cNvSpPr txBox="1"/>
          <p:nvPr/>
        </p:nvSpPr>
        <p:spPr>
          <a:xfrm>
            <a:off x="502920" y="222199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7803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21" name="Google Shape;321;p10"/>
          <p:cNvSpPr txBox="1"/>
          <p:nvPr/>
        </p:nvSpPr>
        <p:spPr>
          <a:xfrm>
            <a:off x="502920" y="2779776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When to add</a:t>
            </a:r>
            <a:endParaRPr/>
          </a:p>
        </p:txBody>
      </p:sp>
      <p:sp>
        <p:nvSpPr>
          <p:cNvPr id="322" name="Google Shape;322;p10"/>
          <p:cNvSpPr txBox="1"/>
          <p:nvPr/>
        </p:nvSpPr>
        <p:spPr>
          <a:xfrm>
            <a:off x="411480" y="331927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Pace view growth</a:t>
            </a:r>
            <a:endParaRPr/>
          </a:p>
        </p:txBody>
      </p:sp>
      <p:sp>
        <p:nvSpPr>
          <p:cNvPr id="323" name="Google Shape;323;p10"/>
          <p:cNvSpPr txBox="1"/>
          <p:nvPr/>
        </p:nvSpPr>
        <p:spPr>
          <a:xfrm>
            <a:off x="3429000" y="222199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7803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24" name="Google Shape;324;p10"/>
          <p:cNvSpPr txBox="1"/>
          <p:nvPr/>
        </p:nvSpPr>
        <p:spPr>
          <a:xfrm>
            <a:off x="3429000" y="2779776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What to optimize</a:t>
            </a:r>
            <a:endParaRPr/>
          </a:p>
        </p:txBody>
      </p:sp>
      <p:sp>
        <p:nvSpPr>
          <p:cNvPr id="325" name="Google Shape;325;p10"/>
          <p:cNvSpPr txBox="1"/>
          <p:nvPr/>
        </p:nvSpPr>
        <p:spPr>
          <a:xfrm>
            <a:off x="3337560" y="331927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Balance exposure</a:t>
            </a:r>
            <a:endParaRPr/>
          </a:p>
        </p:txBody>
      </p:sp>
      <p:sp>
        <p:nvSpPr>
          <p:cNvPr id="326" name="Google Shape;326;p10"/>
          <p:cNvSpPr txBox="1"/>
          <p:nvPr/>
        </p:nvSpPr>
        <p:spPr>
          <a:xfrm>
            <a:off x="6355080" y="2221992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7803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27" name="Google Shape;327;p10"/>
          <p:cNvSpPr txBox="1"/>
          <p:nvPr/>
        </p:nvSpPr>
        <p:spPr>
          <a:xfrm>
            <a:off x="6355080" y="2779776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Where to constrain</a:t>
            </a:r>
            <a:endParaRPr/>
          </a:p>
        </p:txBody>
      </p:sp>
      <p:sp>
        <p:nvSpPr>
          <p:cNvPr id="328" name="Google Shape;328;p10"/>
          <p:cNvSpPr txBox="1"/>
          <p:nvPr/>
        </p:nvSpPr>
        <p:spPr>
          <a:xfrm>
            <a:off x="6263640" y="331927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Use free-space evidence</a:t>
            </a:r>
            <a:endParaRPr/>
          </a:p>
        </p:txBody>
      </p:sp>
      <p:cxnSp>
        <p:nvCxnSpPr>
          <p:cNvPr id="329" name="Google Shape;329;p10"/>
          <p:cNvCxnSpPr/>
          <p:nvPr/>
        </p:nvCxnSpPr>
        <p:spPr>
          <a:xfrm>
            <a:off x="365760" y="425196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D4D6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10"/>
          <p:cNvSpPr txBox="1"/>
          <p:nvPr/>
        </p:nvSpPr>
        <p:spPr>
          <a:xfrm>
            <a:off x="411480" y="4352544"/>
            <a:ext cx="8321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136B"/>
                </a:solidFill>
                <a:latin typeface="Arial"/>
                <a:ea typeface="Arial"/>
                <a:cs typeface="Arial"/>
                <a:sym typeface="Arial"/>
              </a:rPr>
              <a:t>Next: validate appearance and geometry gains at the native input rate.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Sangwon Park, Dong Hwi Kim, Chaehyeon Song</dc:creator>
</cp:coreProperties>
</file>