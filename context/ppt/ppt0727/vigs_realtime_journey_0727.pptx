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B454"/>
                </a:solidFill>
                <a:latin typeface="Noto Sans CJK KR"/>
              </a:rPr>
              <a:t>GS_FLOATERLAB · EXP52 → EXP56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8ECF4"/>
                </a:solidFill>
                <a:latin typeface="Noto Sans CJK KR"/>
              </a:rPr>
              <a:t>Incremental 3DGS Mapping 실시간화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4612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8B95AB"/>
                </a:solidFill>
                <a:latin typeface="Noto Sans CJK KR"/>
              </a:rPr>
              <a:t>VIGS-SLAM 채택 리캡 · 실시간 최초 돌파 · 품질까지 함께 개선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8B95AB"/>
                </a:solidFill>
                <a:latin typeface="Noto Sans CJK KR"/>
              </a:rPr>
              <a:t>"왜 안 빨라지나" 심층 규명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8B95AB"/>
                </a:solidFill>
                <a:latin typeface="Noto Sans CJK KR"/>
              </a:rPr>
              <a:t>1253 시퀀스 · exp52~56 · 07/20 → 07/27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RECAP · 07/20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지난 발표 리캡: 어디까지 끝냈나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441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>
                <a:solidFill>
                  <a:srgbClr val="E8ECF4"/>
                </a:solidFill>
                <a:latin typeface="Noto Sans CJK KR"/>
              </a:rPr>
              <a:t>•  VIGS-SLAM(ECCV2026) 채택 — 단안 RGB+IMU, DROID-SLAM식 dense correlation 트래킹. 우리 목표(흑백 SLAM 트래킹 + RGB incremental 매핑)에 가장 가까운 참조 아키텍처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>
                <a:solidFill>
                  <a:srgbClr val="E8ECF4"/>
                </a:solidFill>
                <a:latin typeface="Noto Sans CJK KR"/>
              </a:rPr>
              <a:t>•  20초 타이밍 버그 발견·수정 — reader 프로세스 sleep(20) 순서 문제로 모든 "온라인 루프 총합"에 인위적 20초가 섞여있었음. 수정 후 실시간 배수 2.77배 → 1.52배로 정정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>
                <a:solidFill>
                  <a:srgbClr val="E8ECF4"/>
                </a:solidFill>
                <a:latin typeface="Noto Sans CJK KR"/>
              </a:rPr>
              <a:t>•  구조적 개선 — IMU 프리적분 C++ 빌드 + TensorRT 3종(−14%), tracking/mapping 비동기 오버랩 gs_parallel 도입(업스트림 레이스 컨디션 버그 발견·수정, −26.1% 추가)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>
                <a:solidFill>
                  <a:srgbClr val="E8ECF4"/>
                </a:solidFill>
                <a:latin typeface="Noto Sans CJK KR"/>
              </a:rPr>
              <a:t>•  핵심 진단 — mapping(rasterize+backward+loss_compute)이 온라인 루프의 81.4%로 압도적 병목. 이번 사이클(exp53~56) 전체가 이 진단 위에서 진행됨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오늘은 이 지점(1.52배, 아직 실시간 아님) 이후 일주일간 일어난 일만 다룹니다.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이번 사이클 요약 (TL;DR)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tldr_rat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51794"/>
            <a:ext cx="5852160" cy="32629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75120" y="1371600"/>
            <a:ext cx="496793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00">
                <a:solidFill>
                  <a:srgbClr val="E8ECF4"/>
                </a:solidFill>
                <a:latin typeface="Noto Sans CJK KR"/>
              </a:rPr>
              <a:t>•  exp53+54: 트래킹·매핑 양쪽 경량화 → 실시간 최초 돌파(0.94배)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00">
                <a:solidFill>
                  <a:srgbClr val="E8ECF4"/>
                </a:solidFill>
                <a:latin typeface="Noto Sans CJK KR"/>
              </a:rPr>
              <a:t>•  exp55: 내용-적응 gaussian 예산 + carve loss 온라인 이식 → 시간 유지하며 평균 gaussian −35.9%, 가시 floater −7.5%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00">
                <a:solidFill>
                  <a:srgbClr val="E8ECF4"/>
                </a:solidFill>
                <a:latin typeface="Noto Sans CJK KR"/>
              </a:rPr>
              <a:t>•  exp56: "왜 안 빨라지나"를 회귀분석으로 규명 → 숨어있던 진짜 병목 2건 발견·수정 → 0.70배, PSNR까지 +0.88/+0.93dB 개선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5394960"/>
            <a:ext cx="4967935" cy="105156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300" b="1">
                <a:solidFill>
                  <a:srgbClr val="E8ECF4"/>
                </a:solidFill>
                <a:latin typeface="Noto Sans CJK KR"/>
              </a:rPr>
              <a:t>1.52배(비실시간) → 0.70배(여유 19초), 그 사이 품질은 계속 좋아짐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§1 · EXP53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프론트엔드(트래킹) 경량화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exp53_a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2553" y="1280160"/>
            <a:ext cx="5666587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0916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>
                <a:solidFill>
                  <a:srgbClr val="E8ECF4"/>
                </a:solidFill>
                <a:latin typeface="Noto Sans CJK KR"/>
              </a:rPr>
              <a:t>•  07/20 진단(mapping 81.4%)과 별개로 트래킹도 손댈 여지가 컸음 — 나중 exp56 부록에서 "순수 트래킹 절감폭(−47.5%)이 매핑 절감폭(−12~15%)보다 훨씬 크다"는 게 재확인됨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>
                <a:solidFill>
                  <a:srgbClr val="E8ECF4"/>
                </a:solidFill>
                <a:latin typeface="Noto Sans CJK KR"/>
              </a:rPr>
              <a:t>•  축D(correlation 해상도)는 사전학습 가중치에 shape가 고정 결합돼 조사 후 구현 불가 판정 — 재학습 없인 못 건드림, 정직하게 기각 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7220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재학습 없이 안 되는 것도 시도해보고 명확히 접었다는 게 중요 — 막연히 미룬 게 아니라 판정을 끝냄.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§1 · EXP53 · 용어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트래킹 축A~D, 실제로 뭘 바꾸는 건가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8B95AB"/>
                </a:solidFill>
                <a:latin typeface="Noto Sans CJK KR"/>
              </a:rPr>
              <a:t>파이프라인: 카메라 프레임 → motion_filter(이게 keyframe인가?) → frontend(correlation → GRU 반복정제 → local BA)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4C8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4C86EA"/>
                </a:solidFill>
                <a:latin typeface="Noto Sans CJK KR"/>
              </a:rPr>
              <a:t>축A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1865376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correlation iters — 두 프레임의 optical flow(correlation)를 GRU로 여러 번 반복해서 다듬는 횟수(iters1/iters2). 시간 −20.7%, ΔPSNR +0.21/+0.21dB(오히려 개선) — 4/2회를 1/0회로 줄여도 정확도 손실 없었음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2608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FFB454"/>
                </a:solidFill>
                <a:latin typeface="Noto Sans CJK KR"/>
              </a:rPr>
              <a:t>축B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2871216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motion_filter.thresh — 새 프레임이 이전 keyframe 대비 "이만큼은 움직여야 keyframe으로 인정"하는 임계값. 시간 −15.4%, ΔPSNR +0.41/+0.55dB — keyframe 자체가 덜 생겨 트래킹·매핑 작업량이 동시에 줄어듦, 이 세션 최대 레버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3192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4C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4CC98A"/>
                </a:solidFill>
                <a:latin typeface="Noto Sans CJK KR"/>
              </a:rPr>
              <a:t>축C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3877056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frontend_window/radius — local BA가 한 번에 붙잡고 최적화하는 "최근 keyframe 그래프"의 크기(window)와 이웃 범위(radius). 시간 −1.7%, ΔPSNR +0.02/+0.12dB — 줄이면 BA solve 행렬이 작아져 계산이 가벼워짐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377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8B95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8B95AB"/>
                </a:solidFill>
                <a:latin typeface="Noto Sans CJK KR"/>
              </a:rPr>
              <a:t>축D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4882896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correlation 해상도 — correlation volume(두 프레임 유사도 맵)을 뽑는 특징맵의 해상도. 사전학습된 신경망 가중치의 입력 shape에 못박혀 있어 재학습 없인 못 건드림 — 미실행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§1 · EXP54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매핑 경량화 — 7축 스캔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exp54_a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6469" y="1280160"/>
            <a:ext cx="8758756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80644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속도 축만 스캔한 게 아니라 축3에서 우연히 "이 시점엔 트래킹이 91%"라는 걸 발견 — 이게 exp53 우선순위의 직접 근거가 됨(서로 다른 실험이 서로의 근거를 만든 사례). 각 축이 정확히 뭘 바꾸는 실험인지는 다음 슬라이드에서 설명.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§1 · EXP54 · 용어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매핑 축1~7, 실제로 뭘 바꾸는 건가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0700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5AB"/>
                </a:solidFill>
                <a:latin typeface="Noto Sans CJK KR"/>
              </a:rPr>
              <a:t>파이프라인: keyframe 도착 → 초기 gaussian 샘플링(축1/2/7) → map() 반복 최적화(축3) → rasterize·densify(축4/5/6)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4C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4CC98A"/>
                </a:solidFill>
                <a:latin typeface="Noto Sans CJK KR"/>
              </a:rPr>
              <a:t>축1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1728216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pcd_downsample — 매 keyframe마다 RGB-D에서 새 gaussian을 뽑을 때의 샘플링 간격. 64→128은 점 개수 절반. 시간 −3.3%, ΔPSNR −0.05/−0.14dB(거의 동일) — 채택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86584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EF6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EF6A5C"/>
                </a:solidFill>
                <a:latin typeface="Noto Sans CJK KR"/>
              </a:rPr>
              <a:t>축2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2331720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pcd_downsample_init — 축1과 같은 개념인데 "시퀀스 맨 첫 keyframe"에만 적용. 시간 +1.2%(역효과), ΔPSNR +0.24/+0.19dB — densify가 나중에 보충해버려 시간 이득이 상쇄됨, 기각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990088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EF6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EF6A5C"/>
                </a:solidFill>
                <a:latin typeface="Noto Sans CJK KR"/>
              </a:rPr>
              <a:t>축3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2935224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map() iters — keyframe 하나를 처리할 때 gaussian을 SGD로 최적화하는 반복 횟수. 시간 −1.5%, ΔPSNR −0.46/−0.48dB — 이 시점엔 트래킹이 병목(91%)이라 ROI 나쁨, 기각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593592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A47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A479E0"/>
                </a:solidFill>
                <a:latin typeface="Noto Sans CJK KR"/>
              </a:rPr>
              <a:t>축4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3538728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render_downsample — 매핑용 렌더링 자체를 낮은 해상도로 그림(원래는 트래킹 해상도의 8배까지 업샘플). 시간 −4.2%, ΔPSNR −0.83/−0.68dB — 유효하나 이미 실시간이라 손실 감수 안 함, 보류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97096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EF6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EF6A5C"/>
                </a:solidFill>
                <a:latin typeface="Noto Sans CJK KR"/>
              </a:rPr>
              <a:t>축5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0280" y="4142232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max_viewpoints — map() 한 번의 호출에서 동시에 보는 카메라 뷰 개수의 상한. 시간 −0.7%(거의 무변화), ΔPSNR −1.73/−1.98dB — 최악의 ROI, 기각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800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EF6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EF6A5C"/>
                </a:solidFill>
                <a:latin typeface="Noto Sans CJK KR"/>
              </a:rPr>
              <a:t>축6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4745736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densify_grad_threshold — gaussian이 "부족하다"고 판단해 새로 쪼개거나 복제하는(densify) 공격성을 정하는 임계값. 시간 +0.2%, ΔPSNR −0.07/−0.29dB — 개수는 줄여도 시간은 그대로, 기각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404104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4C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4CC98A"/>
                </a:solidFill>
                <a:latin typeface="Noto Sans CJK KR"/>
              </a:rPr>
              <a:t>축7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40280" y="5349240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PPM 적응 샘플링 — 균일 샘플링 대신 이미지 디테일(Sobel gradient)에 따라 점을 더/덜 배분. 시간 +0.9%(오차범위), ΔPSNR +0.16/+0.11dB — 같은 예산에서 품질만 공짜로 오름, 채택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§1 ·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결과: 실시간 최초 돌파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breakthrou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0179" y="1371600"/>
            <a:ext cx="8491335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57784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exp53+exp54 통합 레시피: 61.34초, 실시간 배수 0.94배 — 이 프로젝트 최초로 1.0배 미만 달성. 여기서 멈춰도 목표(실시간)는 달성인데, 다음 두 사이클(exp55/56)에서 여유를 더 벌고 품질까지 올림.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§2 · EXP55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내용-적응 gaussian 예산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exp55_adap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17" y="1280160"/>
            <a:ext cx="10417859" cy="3749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212080"/>
            <a:ext cx="1109441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가설: 디테일 많은(Sobel gradient 큰) keyframe엔 gaussian이 더 필요하고, 단조로운 keyframe엔 덜 필요할 것. Phase1(캘리브레이션)에서 상관관계로 먼저 검증한 뒤 Phase2에서 배율곡선+keyframe별 cap을 구현 → 평균 gaussian 수 −35.9%, 최종 −35.3%, PSNR·궤적 손실 없음(오히려 소폭 개선). 사용자 아이디어를 감으로 가지 않고 상관관계로 먼저 검증한 뒤 구현했다는 게 핵심.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§2 · EXP55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carve loss 온라인 이식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exp55_ca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0213" y="1280160"/>
            <a:ext cx="7791268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434840"/>
            <a:ext cx="1109441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>
                <a:solidFill>
                  <a:srgbClr val="E8ECF4"/>
                </a:solidFill>
                <a:latin typeface="Noto Sans CJK KR"/>
              </a:rPr>
              <a:t>•  배치 트랙에서 이미 검증된(AUC 0.98) carve loss를, VIGS의 BA-정제 추적 depth(disps_up)를 신뢰 표면 삼아 depth-violation 전용 온라인 근사로 재설계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>
                <a:solidFill>
                  <a:srgbClr val="E8ECF4"/>
                </a:solidFill>
                <a:latin typeface="Noto Sans CJK KR"/>
              </a:rPr>
              <a:t>•  region GT가 VIGS 좌표계에 안 맞아 — carve_loss.py 자신의 신호 설계를 그대로 재구현한 오프라인 진단 지표를 새로 제작해 검증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7220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표준 지표가 안 맞으면 새로 만들어서라도 채택/기각을 숫자로 판단한다는 원칙.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§2 · 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부록: 직렬 실행으로 밝혀진 진짜 구조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exp55_append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655" y="1280160"/>
            <a:ext cx="9026384" cy="3383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846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>
                <a:solidFill>
                  <a:srgbClr val="E8ECF4"/>
                </a:solidFill>
                <a:latin typeface="Noto Sans CJK KR"/>
              </a:rPr>
              <a:t>•  "지금 상태로 직렬 돌리면 순수 시간이 어떻게 되나" 실측 → 순수 tracking 27.9초 vs 순수 mapping 80.1초. 이게 exp54의 "tracking-bound" 결론과 정면 모순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>
                <a:solidFill>
                  <a:srgbClr val="E8ECF4"/>
                </a:solidFill>
                <a:latin typeface="Noto Sans CJK KR"/>
              </a:rPr>
              <a:t>•  파고든 결과 두 가지 발견: ① GPU 경합이 병렬 tracking을 거의 2배로 부풀림 ② _gs_queue가 가득 차면 오래된 keyframe을 버리는 정책 때문에 병렬 모드가 mapping 업데이트의 약 80%를 그냥 스킵(직렬 110회 vs 병렬 22회)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이 발견이 exp56 전체의 출발점 — "병렬 배수만 보면 안 되고 안에서 뭐가 스킵되는지 봐야 한다".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§3 · EXP56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문제 제기: gaussian↓인데 시간은 그대로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exp56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50141"/>
            <a:ext cx="6035040" cy="386627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1463040"/>
            <a:ext cx="478505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>
                <a:solidFill>
                  <a:srgbClr val="E8ECF4"/>
                </a:solidFill>
                <a:latin typeface="Noto Sans CJK KR"/>
              </a:rPr>
              <a:t>•  exp55에서 평균 gaussian 수를 35.9% 줄였는데 순수 mapping 시간은 12.2%밖에 안 줄었음 — "gaussian 수를 줄이는" 접근이 한계에 도달한 신호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>
                <a:solidFill>
                  <a:srgbClr val="E8ECF4"/>
                </a:solidFill>
                <a:latin typeface="Noto Sans CJK KR"/>
              </a:rPr>
              <a:t>•  exp54 축6+2에서도 이미 같은 현상 관측(gaussian 수를 더 눌러도 시간 그대로)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5120640"/>
            <a:ext cx="4785055" cy="118872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300" b="1">
                <a:solidFill>
                  <a:srgbClr val="E8ECF4"/>
                </a:solidFill>
                <a:latin typeface="Noto Sans CJK KR"/>
              </a:rPr>
              <a:t>질문: gaussian 수가 시간을 안 줄이면, 무엇이 시간을 지배하는가?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§3 · PHASE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기존 계측 재분석으로 원인 진단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exp56_phas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464" y="1234440"/>
            <a:ext cx="3560991" cy="48463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645920"/>
            <a:ext cx="569945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>
                <a:solidFill>
                  <a:srgbClr val="E8ECF4"/>
                </a:solidFill>
                <a:latin typeface="Noto Sans CJK KR"/>
              </a:rPr>
              <a:t>•  새 실험 없이 기존 타이밍 로그를 처음으로 세부 태그별 집계 — 직렬 순수 map() 68.16초 중 rasterize 40% + backward 34% + loss_compute 24%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>
                <a:solidFill>
                  <a:srgbClr val="E8ECF4"/>
                </a:solidFill>
                <a:latin typeface="Noto Sans CJK KR"/>
              </a:rPr>
              <a:t>•  loss_compute는 순수 픽셀 연산(N-무관), rasterize/backward도 이 gaussian 규모(85k~130k)에선 "고정비"가 데이터量-비례 항을 압도함을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5212080"/>
            <a:ext cx="569945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새 실험을 돌리기 전에 이미 있는 데이터부터 다시 봤다 — 이게 다음 발견들의 방법론.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§3 · PHASE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iters 하향 — 첫 큰 개선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exp56_phas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121" y="1280160"/>
            <a:ext cx="7325451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53212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"고정비가 지배적"이라면 진짜 변수는 gaussian 수가 아니라 "반복 횟수(iters)" — keyframe당 SGD 반복 10→7→5 스캔. iters=7: 시간 −16.1%, PSNR mean/kf 둘 다 +0.21dB, map() 처리 keyframe 수도 22→26회 증가 — 전 지표 동시 개선. (참고) 반대 방향(iters를 올려보는 실험)은 오히려 coverage가 줄어 역효과.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§3 · PHASE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숨어있던 진짜 병목 발견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exp56_phas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499" y="1234440"/>
            <a:ext cx="3820040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60720" y="1645920"/>
            <a:ext cx="58823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>
                <a:solidFill>
                  <a:srgbClr val="E8ECF4"/>
                </a:solidFill>
                <a:latin typeface="Noto Sans CJK KR"/>
              </a:rPr>
              <a:t>•  map() 호출을 세부 로그로 종류별 분해해보니 — 26회 중 단 2~3회(맵 최초 초기화 + IMU 재초기화)가 전체 mapping 시간의 49%를 차지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>
                <a:solidFill>
                  <a:srgbClr val="E8ECF4"/>
                </a:solidFill>
                <a:latin typeface="Noto Sans CJK KR"/>
              </a:rPr>
              <a:t>•  원인: IMU 재초기화 시 맵 전체를 삭제하고 처음부터 다시 채우는데, 이때 반복 횟수가 90~131회(정규 호출의 10배 이상)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>
                <a:solidFill>
                  <a:srgbClr val="E8ECF4"/>
                </a:solidFill>
                <a:latin typeface="Noto Sans CJK KR"/>
              </a:rPr>
              <a:t>•  init_itr_num 1050→600으로 낮춰 추가 시간 −6.2%, PSNR 사실상 무손실(300까지 내리면 실손실 확인 후 기각)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5303520"/>
            <a:ext cx="5882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호출 26개 중 딱 2~3개에 절반이 몰려있었다는 게 이번 사이클 최대 발견.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§3 · PHASE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회귀분석 피팅 — 무엇이 시간을 결정하는가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phase5_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280" y="1234440"/>
            <a:ext cx="10825134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0350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왼쪽: 548개 실제 map() 호출을 iters×n_view(한 호출이 처리하는 "view-op" 수) 하나로 설명하면 R²=0.992 — gaussian 수(점 색깔)는 같은 x값 안에서도 시간을 거의 안 바꿈. 오른쪽: 그 회귀식을 항목별로 분해하면 "view-op당 고정비"가 gaussian-비례항의 3배, 픽셀-비례항은 사실상 0에 가까움.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§3 · PHASE 5 · 수식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실제로 피팅된 4개 관계식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5AB"/>
                </a:solidFill>
                <a:latin typeface="Noto Sans CJK KR"/>
              </a:rPr>
              <a:t>직렬(GPU 경합 없음) 330개 실제 map_call 로그, 최소제곱(least-squares) 피팅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36192"/>
            <a:ext cx="11094415" cy="914400"/>
          </a:xfrm>
          <a:prstGeom prst="roundRect">
            <a:avLst>
              <a:gd name="adj" fmla="val 6000"/>
            </a:avLst>
          </a:prstGeom>
          <a:solidFill>
            <a:srgbClr val="1A1F2B"/>
          </a:solidFill>
          <a:ln w="12700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454"/>
                </a:solidFill>
                <a:latin typeface="Noto Sans Mono CJK KR"/>
              </a:rPr>
              <a:t>iters  </a:t>
            </a:r>
            <a:r>
              <a:rPr sz="1100">
                <a:solidFill>
                  <a:srgbClr val="E8ECF4"/>
                </a:solidFill>
                <a:latin typeface="Noto Sans CJK KR"/>
              </a:rPr>
              <a:t>그 map() 호출에서 gaussian을 SGD로 최적화하는 반복 횟수 (정규 keyframe=7, 초기화=90~131 등)</a:t>
            </a:r>
          </a:p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454"/>
                </a:solidFill>
                <a:latin typeface="Noto Sans Mono CJK KR"/>
              </a:rPr>
              <a:t>n_view  </a:t>
            </a:r>
            <a:r>
              <a:rPr sz="1100">
                <a:solidFill>
                  <a:srgbClr val="E8ECF4"/>
                </a:solidFill>
                <a:latin typeface="Noto Sans CJK KR"/>
              </a:rPr>
              <a:t>그 반복 1회마다 렌더링해서 loss를 재는 카메라 뷰 개수 (window+global 곁눈질 합)</a:t>
            </a:r>
          </a:p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454"/>
                </a:solidFill>
                <a:latin typeface="Noto Sans Mono CJK KR"/>
              </a:rPr>
              <a:t>n_gauss  </a:t>
            </a:r>
            <a:r>
              <a:rPr sz="1100">
                <a:solidFill>
                  <a:srgbClr val="E8ECF4"/>
                </a:solidFill>
                <a:latin typeface="Noto Sans CJK KR"/>
              </a:rPr>
              <a:t>그 시점의 전체 gaussian 개수</a:t>
            </a:r>
          </a:p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454"/>
                </a:solidFill>
                <a:latin typeface="Noto Sans Mono CJK KR"/>
              </a:rPr>
              <a:t>pixratio  </a:t>
            </a:r>
            <a:r>
              <a:rPr sz="1100">
                <a:solidFill>
                  <a:srgbClr val="E8ECF4"/>
                </a:solidFill>
                <a:latin typeface="Noto Sans CJK KR"/>
              </a:rPr>
              <a:t>렌더 해상도 배율 = 1/render_downsample² (원해상도면 1)</a:t>
            </a:r>
          </a:p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454"/>
                </a:solidFill>
                <a:latin typeface="Noto Sans Mono CJK KR"/>
              </a:rPr>
              <a:t>ncalls  </a:t>
            </a:r>
            <a:r>
              <a:rPr sz="1100">
                <a:solidFill>
                  <a:srgbClr val="E8ECF4"/>
                </a:solidFill>
                <a:latin typeface="Noto Sans CJK KR"/>
              </a:rPr>
              <a:t>= iters × n_view — 한 번의 map() 호출이 처리하는 총 "view-op" 수 (rasterize/loss_compute는 view마다 도니까 이 단위가 자연스러움)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06040"/>
            <a:ext cx="5410047" cy="1417320"/>
          </a:xfrm>
          <a:prstGeom prst="roundRect">
            <a:avLst>
              <a:gd name="adj" fmla="val 5000"/>
            </a:avLst>
          </a:prstGeom>
          <a:solidFill>
            <a:srgbClr val="1A1F2B"/>
          </a:solidFill>
          <a:ln w="15875">
            <a:solidFill>
              <a:srgbClr val="4C8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/>
            <a:r>
              <a:rPr sz="1400" b="1">
                <a:solidFill>
                  <a:srgbClr val="4C86EA"/>
                </a:solidFill>
                <a:latin typeface="Noto Sans CJK KR"/>
              </a:rPr>
              <a:t>rasterize   (R² = 0.992)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00">
                <a:solidFill>
                  <a:srgbClr val="E8ECF4"/>
                </a:solidFill>
                <a:latin typeface="Noto Sans Mono CJK KR"/>
              </a:rPr>
              <a:t>= 1.473·ncalls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00">
                <a:solidFill>
                  <a:srgbClr val="E8ECF4"/>
                </a:solidFill>
                <a:latin typeface="Noto Sans Mono CJK KR"/>
              </a:rPr>
              <a:t>+ 0.00545·ncalls·(n_gauss/1000)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00">
                <a:solidFill>
                  <a:srgbClr val="E8ECF4"/>
                </a:solidFill>
                <a:latin typeface="Noto Sans Mono CJK KR"/>
              </a:rPr>
              <a:t>− 0.0346·ncalls·pixratio   [ms]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2606040"/>
            <a:ext cx="5410047" cy="1417320"/>
          </a:xfrm>
          <a:prstGeom prst="roundRect">
            <a:avLst>
              <a:gd name="adj" fmla="val 5000"/>
            </a:avLst>
          </a:prstGeom>
          <a:solidFill>
            <a:srgbClr val="1A1F2B"/>
          </a:solidFill>
          <a:ln w="15875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/>
            <a:r>
              <a:rPr sz="1400" b="1">
                <a:solidFill>
                  <a:srgbClr val="FFB454"/>
                </a:solidFill>
                <a:latin typeface="Noto Sans CJK KR"/>
              </a:rPr>
              <a:t>loss_compute   (R² = 0.994)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00">
                <a:solidFill>
                  <a:srgbClr val="E8ECF4"/>
                </a:solidFill>
                <a:latin typeface="Noto Sans Mono CJK KR"/>
              </a:rPr>
              <a:t>= 0.956·ncalls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00">
                <a:solidFill>
                  <a:srgbClr val="E8ECF4"/>
                </a:solidFill>
                <a:latin typeface="Noto Sans Mono CJK KR"/>
              </a:rPr>
              <a:t>+ 0.00207·ncalls·(n_gauss/1000)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00">
                <a:solidFill>
                  <a:srgbClr val="E8ECF4"/>
                </a:solidFill>
                <a:latin typeface="Noto Sans Mono CJK KR"/>
              </a:rPr>
              <a:t>− 0.0241·ncalls·pixratio   [ms]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24528"/>
            <a:ext cx="5410047" cy="1417320"/>
          </a:xfrm>
          <a:prstGeom prst="roundRect">
            <a:avLst>
              <a:gd name="adj" fmla="val 5000"/>
            </a:avLst>
          </a:prstGeom>
          <a:solidFill>
            <a:srgbClr val="1A1F2B"/>
          </a:solidFill>
          <a:ln w="15875">
            <a:solidFill>
              <a:srgbClr val="A47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/>
            <a:r>
              <a:rPr sz="1400" b="1">
                <a:solidFill>
                  <a:srgbClr val="A479E0"/>
                </a:solidFill>
                <a:latin typeface="Noto Sans CJK KR"/>
              </a:rPr>
              <a:t>backward   (R² = 0.929)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00">
                <a:solidFill>
                  <a:srgbClr val="E8ECF4"/>
                </a:solidFill>
                <a:latin typeface="Noto Sans Mono CJK KR"/>
              </a:rPr>
              <a:t>= −1.623·iters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00">
                <a:solidFill>
                  <a:srgbClr val="E8ECF4"/>
                </a:solidFill>
                <a:latin typeface="Noto Sans Mono CJK KR"/>
              </a:rPr>
              <a:t>+ 1.126·iters·n_view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00">
                <a:solidFill>
                  <a:srgbClr val="E8ECF4"/>
                </a:solidFill>
                <a:latin typeface="Noto Sans Mono CJK KR"/>
              </a:rPr>
              <a:t>+ 0.126·iters·(n_gauss/1000)   [ms]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4224528"/>
            <a:ext cx="5410047" cy="1417320"/>
          </a:xfrm>
          <a:prstGeom prst="roundRect">
            <a:avLst>
              <a:gd name="adj" fmla="val 5000"/>
            </a:avLst>
          </a:prstGeom>
          <a:solidFill>
            <a:srgbClr val="1A1F2B"/>
          </a:solidFill>
          <a:ln w="15875">
            <a:solidFill>
              <a:srgbClr val="4C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/>
            <a:r>
              <a:rPr sz="1400" b="1">
                <a:solidFill>
                  <a:srgbClr val="4CC98A"/>
                </a:solidFill>
                <a:latin typeface="Noto Sans CJK KR"/>
              </a:rPr>
              <a:t>optimizer_step   (R² = 0.998)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00">
                <a:solidFill>
                  <a:srgbClr val="E8ECF4"/>
                </a:solidFill>
                <a:latin typeface="Noto Sans Mono CJK KR"/>
              </a:rPr>
              <a:t>= 1.739·iters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00">
                <a:solidFill>
                  <a:srgbClr val="E8ECF4"/>
                </a:solidFill>
                <a:latin typeface="Noto Sans Mono CJK KR"/>
              </a:rPr>
              <a:t>− 0.0946·iters·n_view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00">
                <a:solidFill>
                  <a:srgbClr val="E8ECF4"/>
                </a:solidFill>
                <a:latin typeface="Noto Sans Mono CJK KR"/>
              </a:rPr>
              <a:t>+ 0.00093·iters·(n_gauss/1000)   [ms]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7900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네 식 전부 "iters·n_view" 항의 계수가 gaussian/픽셀 항보다 압도적으로 큼(또는 그 항 자체가 없음) — 그래서 "n_view(카메라 수)가 시간을 지배한다"는 결론이 감이 아니라 계수로 확정됨.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§3 · PHASE 5~7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회귀분석으로 규명한 관계식, 그리고 품질까지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exp56_phase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7960" y="1234440"/>
            <a:ext cx="7915774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526280"/>
            <a:ext cx="1109441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>
                <a:solidFill>
                  <a:srgbClr val="E8ECF4"/>
                </a:solidFill>
                <a:latin typeface="Noto Sans CJK KR"/>
              </a:rPr>
              <a:t>•  548개 실제 map() 호출 데이터로 회귀분석 — iters×n_view(반복 횟수×카메라 수)가 시간을 지배, gaussian 수·해상도는 부차적(R²=0.93~0.998)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>
                <a:solidFill>
                  <a:srgbClr val="E8ECF4"/>
                </a:solidFill>
                <a:latin typeface="Noto Sans CJK KR"/>
              </a:rPr>
              <a:t>•  "카메라 뷰를 늘리면 품질이 좋아지지 않을까?" → window(프론티어) 자체를 키우면 오히려 PSNR 악화(−1.1~3.5dB) — 기각. 대신 프론티어는 그대로 두고 과거-keyframe 곁눈질 비중만 늘리기 → PSNR 개선, 시간 비용 무시할 수준 — 채택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같은 "뷰를 늘린다"는 아이디어인데 방법에 따라 정반대 결과 — 다음 로드맵(dense-frame supervision)에 대한 경고이기도 함.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§3 · PHASE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"공짜" 최적화 발견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exp56_phas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5662" y="1463040"/>
            <a:ext cx="6000369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663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>
                <a:solidFill>
                  <a:srgbClr val="E8ECF4"/>
                </a:solidFill>
                <a:latin typeface="Noto Sans CJK KR"/>
              </a:rPr>
              <a:t>•  프로파일링 중 우연히 발견: 카메라 pose가 안 바뀌는데도 매 렌더링 호출마다 행렬 역산을 처음부터 다시 계산하고 있었음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>
                <a:solidFill>
                  <a:srgbClr val="E8ECF4"/>
                </a:solidFill>
                <a:latin typeface="Noto Sans CJK KR"/>
              </a:rPr>
              <a:t>•  pose가 바뀌는 지점이 코드 전체에 딱 한 곳뿐임을 확인한 뒤 캐싱 추가 — 그래디언트 수학은 전혀 안 건드리는 무위험 변경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제일 큰 인프라 작업(다음 슬라이드)을 준비하다가 발견한 제일 작은데 제일 확실한 개선.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§3 · PHASE 8b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CUDA 커널 batch화 시도 — 정직한 실패 기록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exp56_phase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704" y="1371600"/>
            <a:ext cx="8022285" cy="2194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794760"/>
            <a:ext cx="1109441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180">
                <a:solidFill>
                  <a:srgbClr val="E8ECF4"/>
                </a:solidFill>
                <a:latin typeface="Noto Sans CJK KR"/>
              </a:rPr>
              <a:t>•  "카메라 여러 대를 한 번의 CUDA 커널 호출로 묶으면 더 빠르지 않을까" — 실제로 구현·검증까지 진행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180">
                <a:solidFill>
                  <a:srgbClr val="E8ECF4"/>
                </a:solidFill>
                <a:latin typeface="Noto Sans CJK KR"/>
              </a:rPr>
              <a:t>•  기존 커널(그래디언트 수학 포함)은 안 건드리고 C++에서 안전하게 감싸는 방식으로 구현, forward는 완전 일치, backward도 수치적으로 검증 통과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180">
                <a:solidFill>
                  <a:srgbClr val="E8ECF4"/>
                </a:solidFill>
                <a:latin typeface="Noto Sans CJK KR"/>
              </a:rPr>
              <a:t>•  실전 적용 1차 시도에서 PSNR 붕괴 발견 → 원인(텐서 shape 불일치) 진단·수정 → 재검증 통과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180">
                <a:solidFill>
                  <a:srgbClr val="E8ECF4"/>
                </a:solidFill>
                <a:latin typeface="Noto Sans CJK KR"/>
              </a:rPr>
              <a:t>•  하지만 최종 시간 측정 결과 개선 없음 — 진짜 병목이 "CUDA 커널 실행 자체"라는 사전 진단이 재확인됨, 채택하지 않고 안전하게 원복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9441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성공한 것만 보여주면 신뢰가 안 감 — 위험한 시도를 안전하게 검증하고, 안 되면 되돌리는 과정 자체가 방법론.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§4 ·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전체 타임라인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overall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37062"/>
            <a:ext cx="6949440" cy="369243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0" y="1463040"/>
          <a:ext cx="38404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14400"/>
                <a:gridCol w="118872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B454"/>
                          </a:solidFill>
                          <a:latin typeface="Noto Sans CJK KR"/>
                        </a:rPr>
                        <a:t>시점</a:t>
                      </a:r>
                    </a:p>
                  </a:txBody>
                  <a:tcPr marL="109728" marR="109728"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B454"/>
                          </a:solidFill>
                          <a:latin typeface="Noto Sans CJK KR"/>
                        </a:rPr>
                        <a:t>실시간 배수</a:t>
                      </a:r>
                    </a:p>
                  </a:txBody>
                  <a:tcPr marL="109728" marR="109728"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B454"/>
                          </a:solidFill>
                          <a:latin typeface="Noto Sans CJK KR"/>
                        </a:rPr>
                        <a:t>PSNR(mean/kf)</a:t>
                      </a:r>
                    </a:p>
                  </a:txBody>
                  <a:tcPr marL="109728" marR="109728" anchor="ctr">
                    <a:solidFill>
                      <a:srgbClr val="1A1F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E8ECF4"/>
                          </a:solidFill>
                          <a:latin typeface="Noto Sans CJK KR"/>
                        </a:rPr>
                        <a:t>07/20 (정정 후)</a:t>
                      </a:r>
                    </a:p>
                  </a:txBody>
                  <a:tcPr marL="109728" marR="109728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E8ECF4"/>
                          </a:solidFill>
                          <a:latin typeface="Noto Sans CJK KR"/>
                        </a:rPr>
                        <a:t>1.52배</a:t>
                      </a:r>
                    </a:p>
                  </a:txBody>
                  <a:tcPr marL="109728" marR="109728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E8ECF4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12151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E8ECF4"/>
                          </a:solidFill>
                          <a:latin typeface="Noto Sans CJK KR"/>
                        </a:rPr>
                        <a:t>exp53+54</a:t>
                      </a:r>
                    </a:p>
                  </a:txBody>
                  <a:tcPr marL="109728" marR="109728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E8ECF4"/>
                          </a:solidFill>
                          <a:latin typeface="Noto Sans CJK KR"/>
                        </a:rPr>
                        <a:t>0.94배</a:t>
                      </a:r>
                    </a:p>
                  </a:txBody>
                  <a:tcPr marL="109728" marR="109728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E8ECF4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12151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E8ECF4"/>
                          </a:solidFill>
                          <a:latin typeface="Noto Sans CJK KR"/>
                        </a:rPr>
                        <a:t>exp55</a:t>
                      </a:r>
                    </a:p>
                  </a:txBody>
                  <a:tcPr marL="109728" marR="109728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E8ECF4"/>
                          </a:solidFill>
                          <a:latin typeface="Noto Sans CJK KR"/>
                        </a:rPr>
                        <a:t>0.92배</a:t>
                      </a:r>
                    </a:p>
                  </a:txBody>
                  <a:tcPr marL="109728" marR="109728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E8ECF4"/>
                          </a:solidFill>
                          <a:latin typeface="Noto Sans CJK KR"/>
                        </a:rPr>
                        <a:t>22.61/22.95</a:t>
                      </a:r>
                    </a:p>
                  </a:txBody>
                  <a:tcPr marL="109728" marR="109728" anchor="ctr">
                    <a:solidFill>
                      <a:srgbClr val="12151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E8ECF4"/>
                          </a:solidFill>
                          <a:latin typeface="Noto Sans CJK KR"/>
                        </a:rPr>
                        <a:t>exp56 최종</a:t>
                      </a:r>
                    </a:p>
                  </a:txBody>
                  <a:tcPr marL="109728" marR="109728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E8ECF4"/>
                          </a:solidFill>
                          <a:latin typeface="Noto Sans CJK KR"/>
                        </a:rPr>
                        <a:t>0.70배</a:t>
                      </a:r>
                    </a:p>
                  </a:txBody>
                  <a:tcPr marL="109728" marR="109728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E8ECF4"/>
                          </a:solidFill>
                          <a:latin typeface="Noto Sans CJK KR"/>
                        </a:rPr>
                        <a:t>23.49/23.88</a:t>
                      </a:r>
                    </a:p>
                  </a:txBody>
                  <a:tcPr marL="109728" marR="109728" anchor="ctr">
                    <a:solidFill>
                      <a:srgbClr val="12151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0644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실시간을 달성한 뒤에도 멈추지 않고 추가로 시간을 1/4 줄이면서 품질까지 올렸다.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§4 · 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현재 상태 스코어카드 + 다음 후보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566160" cy="105156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E8EC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2200" b="1">
                <a:solidFill>
                  <a:srgbClr val="E8ECF4"/>
                </a:solidFill>
                <a:latin typeface="Noto Sans CJK KR"/>
              </a:rPr>
              <a:t>45.79s</a:t>
            </a:r>
          </a:p>
          <a:p>
            <a:pPr algn="ctr"/>
            <a:r>
              <a:rPr sz="1050">
                <a:solidFill>
                  <a:srgbClr val="8B95AB"/>
                </a:solidFill>
                <a:latin typeface="Noto Sans CJK KR"/>
              </a:rPr>
              <a:t>온라인 루프 총합
(예산 65.1s 대비 여유 19s)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1417320"/>
            <a:ext cx="3566160" cy="105156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4C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2200" b="1">
                <a:solidFill>
                  <a:srgbClr val="4CC98A"/>
                </a:solidFill>
                <a:latin typeface="Noto Sans CJK KR"/>
              </a:rPr>
              <a:t>23.49/23.88</a:t>
            </a:r>
          </a:p>
          <a:p>
            <a:pPr algn="ctr"/>
            <a:r>
              <a:rPr sz="1050">
                <a:solidFill>
                  <a:srgbClr val="8B95AB"/>
                </a:solidFill>
                <a:latin typeface="Noto Sans CJK KR"/>
              </a:rPr>
              <a:t>PSNR (mean/kf)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19" y="1417320"/>
            <a:ext cx="3657600" cy="105156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2200" b="1">
                <a:solidFill>
                  <a:srgbClr val="FFB454"/>
                </a:solidFill>
                <a:latin typeface="Noto Sans CJK KR"/>
              </a:rPr>
              <a:t>0.70×</a:t>
            </a:r>
          </a:p>
          <a:p>
            <a:pPr algn="ctr"/>
            <a:r>
              <a:rPr sz="1050">
                <a:solidFill>
                  <a:srgbClr val="8B95AB"/>
                </a:solidFill>
                <a:latin typeface="Noto Sans CJK KR"/>
              </a:rPr>
              <a:t>실시간 배수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B454"/>
                </a:solidFill>
                <a:latin typeface="Noto Sans CJK KR"/>
              </a:rPr>
              <a:t>다음 후보 (우선순위 논의 필요)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004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EF6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EF6A5C"/>
                </a:solidFill>
                <a:latin typeface="Noto Sans CJK KR"/>
              </a:rPr>
              <a:t>① 고위험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145536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CUDA 커널 레벨 batch화(Phase 8b가 실패한 진짜 원인 해결) — 이득 불확실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862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4C8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4C86EA"/>
                </a:solidFill>
                <a:latin typeface="Noto Sans CJK KR"/>
              </a:rPr>
              <a:t>② 저위험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3831336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init_itr_num/iters 더 세밀한 스캔 — 이득 작음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5720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A47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A479E0"/>
                </a:solidFill>
                <a:latin typeface="Noto Sans CJK KR"/>
              </a:rPr>
              <a:t>③ 신규 후보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4517136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오프라인 색정제를 실시간 호환으로 재설계 — 다음 슬라이드, +3~6dB 확인됨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578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4C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4CC98A"/>
                </a:solidFill>
                <a:latin typeface="Noto Sans CJK KR"/>
              </a:rPr>
              <a:t>④ 다음 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5202936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Localization(흑백 SLAM 트래킹) 실제 통합 — exp50과 합류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94360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carve loss로 floater 억제는 유지 중. ①번은 리스크 대비 이득이 불확실해서 팀 논의가 필요한 지점.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§4 · NEW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부록: 오프라인 후처리가 사주는 PSNR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ply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995" y="1234440"/>
            <a:ext cx="8121704" cy="3200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457200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EF6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2200" b="1">
                <a:solidFill>
                  <a:srgbClr val="EF6A5C"/>
                </a:solidFill>
                <a:latin typeface="Noto Sans CJK KR"/>
              </a:rPr>
              <a:t>~196s</a:t>
            </a:r>
          </a:p>
          <a:p>
            <a:pPr algn="ctr"/>
            <a:r>
              <a:rPr sz="1050">
                <a:solidFill>
                  <a:srgbClr val="8B95AB"/>
                </a:solidFill>
                <a:latin typeface="Noto Sans CJK KR"/>
              </a:rPr>
              <a:t>후처리 고정비용
(26,000 iter, 프레임수 무관)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457200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4C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2200" b="1">
                <a:solidFill>
                  <a:srgbClr val="4CC98A"/>
                </a:solidFill>
                <a:latin typeface="Noto Sans CJK KR"/>
              </a:rPr>
              <a:t>+3.04 / +6.45dB</a:t>
            </a:r>
          </a:p>
          <a:p>
            <a:pPr algn="ctr"/>
            <a:r>
              <a:rPr sz="1050">
                <a:solidFill>
                  <a:srgbClr val="8B95AB"/>
                </a:solidFill>
                <a:latin typeface="Noto Sans CJK KR"/>
              </a:rPr>
              <a:t>PSNR 이득(mean/kf)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4572000"/>
            <a:ext cx="3657600" cy="91440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E8EC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2200" b="1">
                <a:solidFill>
                  <a:srgbClr val="E8ECF4"/>
                </a:solidFill>
                <a:latin typeface="Noto Sans CJK KR"/>
              </a:rPr>
              <a:t>26.53 / 30.33dB</a:t>
            </a:r>
          </a:p>
          <a:p>
            <a:pPr algn="ctr"/>
            <a:r>
              <a:rPr sz="1050">
                <a:solidFill>
                  <a:srgbClr val="8B95AB"/>
                </a:solidFill>
                <a:latin typeface="Noto Sans CJK KR"/>
              </a:rPr>
              <a:t>exp56 최종 레시피 위 실측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235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07/18 구버전 설정에서 처음 발견된 패턴(+4.12/+7.95dB)이 exp56 최종 레시피에서도 재현됨(2026-07-27 재검증). 26k iteration은 시퀀스 길이와 무관한 고정 배치 작업이라 현재 구조로는 "실시간"이 아니라 "끝나고 한 번에 몰아서" — 다음 슬라이드는 이걸 실시간 호환으로 만들 방법에 대한 제안.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§4 ·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후처리를 실시간 호환으로 만들려면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>
                <a:solidFill>
                  <a:srgbClr val="E8ECF4"/>
                </a:solidFill>
                <a:latin typeface="Noto Sans CJK KR"/>
              </a:rPr>
              <a:t>•  핵심 문제: 26,000 iteration이 시퀀스 종료 후 한 번에 블로킹으로 몰림 — 온라인 시스템엔 "종료 시점"이 없음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6888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4C8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4C86EA"/>
                </a:solidFill>
                <a:latin typeface="Noto Sans CJK KR"/>
              </a:rPr>
              <a:t>A · 상시 백그라운드화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414016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26k를 세션 끝에 몰아서 돌리지 않고, 이미 지나간(프론티어 밖) keyframe에 대해 GPU 유휴 사이클마다 소량씩 지속 refinement — n_global_views(Phase7)가 이미 하던 걸 전용 백그라운드 루프로 확장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290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FFB454"/>
                </a:solidFill>
                <a:latin typeface="Noto Sans CJK KR"/>
              </a:rPr>
              <a:t>B · 우선순위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3374136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_gs_queue가 비어 mapper가 노는 시점(exp55 부록에서 이미 발견한 유휴 구간)을 감지해 그 틈에만 refinement 스텝을 끼워 넣음 — 신규 keyframe 처리를 항상 최우선으로 선점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8912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4C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4CC98A"/>
                </a:solidFill>
                <a:latin typeface="Noto Sans CJK KR"/>
              </a:rPr>
              <a:t>C · 반복수 자체 축소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4334256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iters=10→7이 온라인에서 그랬듯, 26,000도 고정 상수일 뿐 — 스윕(예: 5000/10000)해서 수확체감 지점을 찾으면 고정비용 자체를 줄일 수 있음(저위험, 미검증)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76072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권장: C(반복수 스윕)로 저위험 저비용 검증 먼저 → A/B(상시 백그라운드화)로 구조를 바꾸는 건 exp56 Phase7의 아이디어를 그대로 확장하는 것이라 다음 사이클 후보로 유력.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§4 · REALITY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post-processed급 online — 쉽지 않은 이유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realtime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606" y="1234440"/>
            <a:ext cx="5692786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0" y="1371600"/>
            <a:ext cx="505937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>
                <a:solidFill>
                  <a:srgbClr val="E8ECF4"/>
                </a:solidFill>
                <a:latin typeface="Noto Sans CJK KR"/>
              </a:rPr>
              <a:t>•  계산량 격차: 26,000 iter × ~6.4ms/view-op(Phase8 실측치 그대로 적용) ≈ 166~196초 필요 — 지금 파이프라인 여유는 65.1s 예산 대비 19.3초뿐, 약 8~10배 부족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>
                <a:solidFill>
                  <a:srgbClr val="E8ECF4"/>
                </a:solidFill>
                <a:latin typeface="Noto Sans CJK KR"/>
              </a:rPr>
              <a:t>•  더 근본적 문제: color_refinement는 "전체 궤적을 이미 다 본 상태"에서 모든 keyframe을 반복 방문하는 global 작업 — 라이브 스트림엔 애초에 "다 봤다"는 시점이 없음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>
                <a:solidFill>
                  <a:srgbClr val="E8ECF4"/>
                </a:solidFill>
                <a:latin typeface="Noto Sans CJK KR"/>
              </a:rPr>
              <a:t>•  즉 "매 순간 완전히 캐치업된 post-processed급"은 계산량 문제 이전에 정의상 불가능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5577840"/>
            <a:ext cx="50593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그래서 목표를 "항상 최종 품질"이 아니라 "프론티어 + 뒤에서 점점 따라잡는 품질"로 재정의하는 게 현실적 — 다음 슬라이드가 그 그림.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§4 · REALITY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현실적 목표: bounded-lag 온라인 정제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bounded_l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8354" y="1280160"/>
            <a:ext cx="7834985" cy="35661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120640"/>
            <a:ext cx="1109441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루프클로저 global BA를 백그라운드로 돌리는 성숙한 SLAM 시스템들과 같은 패턴 — 프론티어(방금 본 곳)는 항상 실시간으로 그려지고, 그 뒤를 정제(refinement)가 시간차를 두고 계속 따라오며 품질을 끌어올린다. "실시간 = 항상 완성본"이 아니라 "실시간 = 프론티어가 안 밀린다 + 지나간 곳은 계속 좋아진다"로 성공 기준 자체를 바꾸는 게 이번 발견의 결론.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§4 ·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결론 한 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4C8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4C86EA"/>
                </a:solidFill>
                <a:latin typeface="Noto Sans CJK KR"/>
              </a:rPr>
              <a:t>EXP53+54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1499616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실시간 최초 돌파 (0.94배)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3172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4C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4CC98A"/>
                </a:solidFill>
                <a:latin typeface="Noto Sans CJK KR"/>
              </a:rPr>
              <a:t>EXP55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2276856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품질 레버 확보 (gaussian −35.9%, floater −7.5%, 비용 없음)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1089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FFB454"/>
                </a:solidFill>
                <a:latin typeface="Noto Sans CJK KR"/>
              </a:rPr>
              <a:t>EXP56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054096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"왜 안 빨라지나"를 끝까지 규명해 4단계 연속 개선 + 실패한 시도(batch화)까지 안전하게 검증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297680"/>
            <a:ext cx="11094415" cy="1188720"/>
          </a:xfrm>
          <a:prstGeom prst="roundRect">
            <a:avLst>
              <a:gd name="adj" fmla="val 6000"/>
            </a:avLst>
          </a:prstGeom>
          <a:solidFill>
            <a:srgbClr val="1A1F2B"/>
          </a:solidFill>
          <a:ln w="1905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600" b="1">
                <a:solidFill>
                  <a:srgbClr val="E8ECF4"/>
                </a:solidFill>
                <a:latin typeface="Noto Sans CJK KR"/>
              </a:rPr>
              <a:t>실시간을 달성하고, 그 위에서 시간을 추가로 1/4 더 줄이면서 품질까지 함께 올렸다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52160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다음 미팅까지 목표(localization 통합 vs 커널 batch화 여부)에 대한 팀 의견 요청.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